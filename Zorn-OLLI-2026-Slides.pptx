
<file path=[Content_Types].xml><?xml version="1.0" encoding="utf-8"?>
<Types xmlns="http://schemas.openxmlformats.org/package/2006/content-types">
  <Default Extension="jpeg" ContentType="image/jpeg"/>
  <Default Extension="jpg" ContentType="image/jpeg"/>
  <Default Extension="mp3" ContentType="audio/m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8"/>
  </p:notesMasterIdLst>
  <p:sldIdLst>
    <p:sldId id="256" r:id="rId2"/>
    <p:sldId id="262" r:id="rId3"/>
    <p:sldId id="263" r:id="rId4"/>
    <p:sldId id="259" r:id="rId5"/>
    <p:sldId id="264" r:id="rId6"/>
    <p:sldId id="317" r:id="rId7"/>
    <p:sldId id="260" r:id="rId8"/>
    <p:sldId id="274" r:id="rId9"/>
    <p:sldId id="267" r:id="rId10"/>
    <p:sldId id="275" r:id="rId11"/>
    <p:sldId id="276" r:id="rId12"/>
    <p:sldId id="279" r:id="rId13"/>
    <p:sldId id="273" r:id="rId14"/>
    <p:sldId id="283" r:id="rId15"/>
    <p:sldId id="284" r:id="rId16"/>
    <p:sldId id="282" r:id="rId17"/>
    <p:sldId id="292" r:id="rId18"/>
    <p:sldId id="294" r:id="rId19"/>
    <p:sldId id="266" r:id="rId20"/>
    <p:sldId id="269" r:id="rId21"/>
    <p:sldId id="318" r:id="rId22"/>
    <p:sldId id="281" r:id="rId23"/>
    <p:sldId id="285" r:id="rId24"/>
    <p:sldId id="298" r:id="rId25"/>
    <p:sldId id="309" r:id="rId26"/>
    <p:sldId id="295" r:id="rId27"/>
    <p:sldId id="297" r:id="rId28"/>
    <p:sldId id="300" r:id="rId29"/>
    <p:sldId id="301" r:id="rId30"/>
    <p:sldId id="319" r:id="rId31"/>
    <p:sldId id="287" r:id="rId32"/>
    <p:sldId id="303" r:id="rId33"/>
    <p:sldId id="311" r:id="rId34"/>
    <p:sldId id="302" r:id="rId35"/>
    <p:sldId id="320" r:id="rId36"/>
    <p:sldId id="289" r:id="rId37"/>
    <p:sldId id="307" r:id="rId38"/>
    <p:sldId id="304" r:id="rId39"/>
    <p:sldId id="305" r:id="rId40"/>
    <p:sldId id="316" r:id="rId41"/>
    <p:sldId id="306" r:id="rId42"/>
    <p:sldId id="314" r:id="rId43"/>
    <p:sldId id="315" r:id="rId44"/>
    <p:sldId id="312" r:id="rId45"/>
    <p:sldId id="313" r:id="rId46"/>
    <p:sldId id="32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58"/>
    <p:restoredTop sz="94643"/>
  </p:normalViewPr>
  <p:slideViewPr>
    <p:cSldViewPr snapToGrid="0">
      <p:cViewPr varScale="1">
        <p:scale>
          <a:sx n="118" d="100"/>
          <a:sy n="118" d="100"/>
        </p:scale>
        <p:origin x="224" y="23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FDCFE9-9C93-F941-8AD2-B716A7F10C4A}" type="datetimeFigureOut">
              <a:t>9/4/26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D384DA-6721-CB45-A103-843149A8D5AC}" type="slidenum">
              <a:t>‹#›</a:t>
            </a:fld>
            <a:endParaRPr lang="en-US"/>
          </a:p>
        </p:txBody>
      </p:sp>
    </p:spTree>
    <p:extLst>
      <p:ext uri="{BB962C8B-B14F-4D97-AF65-F5344CB8AC3E}">
        <p14:creationId xmlns:p14="http://schemas.microsoft.com/office/powerpoint/2010/main" val="3007362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36339-169D-33A6-A85B-056E6DDE05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7F8672-596D-C2AE-6C43-B61B5C62D1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7D2E87-017E-EE04-85DA-0750AACD068E}"/>
              </a:ext>
            </a:extLst>
          </p:cNvPr>
          <p:cNvSpPr>
            <a:spLocks noGrp="1"/>
          </p:cNvSpPr>
          <p:nvPr>
            <p:ph type="dt" sz="half" idx="10"/>
          </p:nvPr>
        </p:nvSpPr>
        <p:spPr/>
        <p:txBody>
          <a:bodyPr/>
          <a:lstStyle/>
          <a:p>
            <a:fld id="{ABC1FEE8-2612-CE4A-A903-C6531DA1A7F8}" type="datetime1">
              <a:t>9/4/26</a:t>
            </a:fld>
            <a:endParaRPr lang="en-US"/>
          </a:p>
        </p:txBody>
      </p:sp>
      <p:sp>
        <p:nvSpPr>
          <p:cNvPr id="5" name="Footer Placeholder 4">
            <a:extLst>
              <a:ext uri="{FF2B5EF4-FFF2-40B4-BE49-F238E27FC236}">
                <a16:creationId xmlns:a16="http://schemas.microsoft.com/office/drawing/2014/main" id="{536FE6A8-945B-CE0C-8507-5E0D5C78F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AA89B-6DE6-4A90-DEB3-EEE389425AB9}"/>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3484954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E91EE-45DC-C626-1D53-D4FD58DD94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43C6A6-8331-0AC5-6859-62AC5A1C57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CB1E08-00E1-5561-9AA7-6B935E3975F8}"/>
              </a:ext>
            </a:extLst>
          </p:cNvPr>
          <p:cNvSpPr>
            <a:spLocks noGrp="1"/>
          </p:cNvSpPr>
          <p:nvPr>
            <p:ph type="dt" sz="half" idx="10"/>
          </p:nvPr>
        </p:nvSpPr>
        <p:spPr/>
        <p:txBody>
          <a:bodyPr/>
          <a:lstStyle/>
          <a:p>
            <a:fld id="{2F435701-6978-4344-AF8D-CAF67B01257B}" type="datetime1">
              <a:t>9/4/26</a:t>
            </a:fld>
            <a:endParaRPr lang="en-US"/>
          </a:p>
        </p:txBody>
      </p:sp>
      <p:sp>
        <p:nvSpPr>
          <p:cNvPr id="5" name="Footer Placeholder 4">
            <a:extLst>
              <a:ext uri="{FF2B5EF4-FFF2-40B4-BE49-F238E27FC236}">
                <a16:creationId xmlns:a16="http://schemas.microsoft.com/office/drawing/2014/main" id="{D1D8F932-4A98-DB69-18AB-5608B1706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1EB19-23B4-DF0B-FE64-7BC68159561F}"/>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1928724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4015F-7198-E46F-38A9-0DF49BB96F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F5D14B-19C1-61B8-2FB1-AB4CFEB370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DB51A9-9578-14B4-0A3B-6D52B8C70293}"/>
              </a:ext>
            </a:extLst>
          </p:cNvPr>
          <p:cNvSpPr>
            <a:spLocks noGrp="1"/>
          </p:cNvSpPr>
          <p:nvPr>
            <p:ph type="dt" sz="half" idx="10"/>
          </p:nvPr>
        </p:nvSpPr>
        <p:spPr/>
        <p:txBody>
          <a:bodyPr/>
          <a:lstStyle/>
          <a:p>
            <a:fld id="{4E1FE1FF-DD8F-9548-840E-C0F2A7A4004C}" type="datetime1">
              <a:t>9/4/26</a:t>
            </a:fld>
            <a:endParaRPr lang="en-US"/>
          </a:p>
        </p:txBody>
      </p:sp>
      <p:sp>
        <p:nvSpPr>
          <p:cNvPr id="5" name="Footer Placeholder 4">
            <a:extLst>
              <a:ext uri="{FF2B5EF4-FFF2-40B4-BE49-F238E27FC236}">
                <a16:creationId xmlns:a16="http://schemas.microsoft.com/office/drawing/2014/main" id="{B8E5FD4F-8EE0-1A93-46F4-616446C2BD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99924-5C69-92ED-FC11-7363D9BA6CFB}"/>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1163338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08924-F5F5-1639-111F-409FFCEE2F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48DFDB-3D4E-EC54-635F-C71C967C1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4224A3-105C-4ADF-5E0E-0B7C8839DC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CC48A3-9020-4402-CECB-1F86C81BB757}"/>
              </a:ext>
            </a:extLst>
          </p:cNvPr>
          <p:cNvSpPr>
            <a:spLocks noGrp="1"/>
          </p:cNvSpPr>
          <p:nvPr>
            <p:ph type="dt" sz="half" idx="10"/>
          </p:nvPr>
        </p:nvSpPr>
        <p:spPr/>
        <p:txBody>
          <a:bodyPr/>
          <a:lstStyle/>
          <a:p>
            <a:fld id="{A12EAB70-D3F7-B94B-BAFC-74EDBC8A6B30}" type="datetime1">
              <a:t>9/4/26</a:t>
            </a:fld>
            <a:endParaRPr lang="en-US"/>
          </a:p>
        </p:txBody>
      </p:sp>
      <p:sp>
        <p:nvSpPr>
          <p:cNvPr id="6" name="Footer Placeholder 5">
            <a:extLst>
              <a:ext uri="{FF2B5EF4-FFF2-40B4-BE49-F238E27FC236}">
                <a16:creationId xmlns:a16="http://schemas.microsoft.com/office/drawing/2014/main" id="{BDA17813-7E80-A91D-D9CE-22A031D378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116D49-9FC4-7B5F-522F-87CE9B004D4D}"/>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2295640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5A698-2D98-C545-78B8-4AFA35E1FD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9CF6-243B-011E-F9DA-8B74A43706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74F755-F424-3110-3929-6692210C5F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15C37B-C996-ECF5-621C-7691821C96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E9BC91-6E64-6450-727E-DF1A1D911E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946788-1E95-FFE7-72DE-19588A626509}"/>
              </a:ext>
            </a:extLst>
          </p:cNvPr>
          <p:cNvSpPr>
            <a:spLocks noGrp="1"/>
          </p:cNvSpPr>
          <p:nvPr>
            <p:ph type="dt" sz="half" idx="10"/>
          </p:nvPr>
        </p:nvSpPr>
        <p:spPr/>
        <p:txBody>
          <a:bodyPr/>
          <a:lstStyle/>
          <a:p>
            <a:fld id="{EA8534D4-7601-5C4C-A7B0-21FB0E6816B7}" type="datetime1">
              <a:t>9/4/26</a:t>
            </a:fld>
            <a:endParaRPr lang="en-US"/>
          </a:p>
        </p:txBody>
      </p:sp>
      <p:sp>
        <p:nvSpPr>
          <p:cNvPr id="8" name="Footer Placeholder 7">
            <a:extLst>
              <a:ext uri="{FF2B5EF4-FFF2-40B4-BE49-F238E27FC236}">
                <a16:creationId xmlns:a16="http://schemas.microsoft.com/office/drawing/2014/main" id="{D5F030A6-1E42-65E5-2CA3-E18651A142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DFE101-9660-218B-380C-58658CE8E85A}"/>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89896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FF254-B809-E153-95D2-80788B7D8C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5D04B1-8BD5-27A1-DD64-7FA0B98B84DB}"/>
              </a:ext>
            </a:extLst>
          </p:cNvPr>
          <p:cNvSpPr>
            <a:spLocks noGrp="1"/>
          </p:cNvSpPr>
          <p:nvPr>
            <p:ph type="dt" sz="half" idx="10"/>
          </p:nvPr>
        </p:nvSpPr>
        <p:spPr/>
        <p:txBody>
          <a:bodyPr/>
          <a:lstStyle/>
          <a:p>
            <a:fld id="{890F88FA-8B02-A147-8EA1-95FADF98CCE0}" type="datetime1">
              <a:t>9/4/26</a:t>
            </a:fld>
            <a:endParaRPr lang="en-US"/>
          </a:p>
        </p:txBody>
      </p:sp>
      <p:sp>
        <p:nvSpPr>
          <p:cNvPr id="4" name="Footer Placeholder 3">
            <a:extLst>
              <a:ext uri="{FF2B5EF4-FFF2-40B4-BE49-F238E27FC236}">
                <a16:creationId xmlns:a16="http://schemas.microsoft.com/office/drawing/2014/main" id="{7B86667F-3C60-2745-2EAF-81D3133AA9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5F7D21-82F7-C1F2-B900-777FDD2E3245}"/>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2696608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0FF0AC-155D-7ECB-F4B1-25A089DA3EDE}"/>
              </a:ext>
            </a:extLst>
          </p:cNvPr>
          <p:cNvSpPr>
            <a:spLocks noGrp="1"/>
          </p:cNvSpPr>
          <p:nvPr>
            <p:ph type="dt" sz="half" idx="10"/>
          </p:nvPr>
        </p:nvSpPr>
        <p:spPr/>
        <p:txBody>
          <a:bodyPr/>
          <a:lstStyle/>
          <a:p>
            <a:fld id="{5FCF416C-022A-5D49-94E8-4BFF64F56A7A}" type="datetime1">
              <a:t>9/4/26</a:t>
            </a:fld>
            <a:endParaRPr lang="en-US"/>
          </a:p>
        </p:txBody>
      </p:sp>
      <p:sp>
        <p:nvSpPr>
          <p:cNvPr id="3" name="Footer Placeholder 2">
            <a:extLst>
              <a:ext uri="{FF2B5EF4-FFF2-40B4-BE49-F238E27FC236}">
                <a16:creationId xmlns:a16="http://schemas.microsoft.com/office/drawing/2014/main" id="{F7F61315-1203-A129-76A2-6585B97418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FE998D-D943-6BAF-1D16-8244D09C0228}"/>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1008734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63C70-7AB1-B389-8275-AC56CD1B2D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21289E-E988-1002-FDA3-B74318102F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3CD953-24BE-6E19-DEE4-32213DB4F8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E1A2D9-7952-CCC4-477A-153CCE2AE0D8}"/>
              </a:ext>
            </a:extLst>
          </p:cNvPr>
          <p:cNvSpPr>
            <a:spLocks noGrp="1"/>
          </p:cNvSpPr>
          <p:nvPr>
            <p:ph type="dt" sz="half" idx="10"/>
          </p:nvPr>
        </p:nvSpPr>
        <p:spPr/>
        <p:txBody>
          <a:bodyPr/>
          <a:lstStyle/>
          <a:p>
            <a:fld id="{8AAE170A-ADF2-FC41-9E6D-42A1013D134C}" type="datetime1">
              <a:t>9/4/26</a:t>
            </a:fld>
            <a:endParaRPr lang="en-US"/>
          </a:p>
        </p:txBody>
      </p:sp>
      <p:sp>
        <p:nvSpPr>
          <p:cNvPr id="6" name="Footer Placeholder 5">
            <a:extLst>
              <a:ext uri="{FF2B5EF4-FFF2-40B4-BE49-F238E27FC236}">
                <a16:creationId xmlns:a16="http://schemas.microsoft.com/office/drawing/2014/main" id="{440E2D8F-C049-E93C-CC0B-3855C310FF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8E246C-E509-D038-3E14-CB9683FAF143}"/>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2126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80DD9-B356-C329-5D03-38A5D8D29F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3BAE0A-39F2-9088-4694-1C3E028A22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5AAB68-2FFF-E276-1109-F3B03B74AD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278498-0082-B057-8DC1-AB8F91D1D55F}"/>
              </a:ext>
            </a:extLst>
          </p:cNvPr>
          <p:cNvSpPr>
            <a:spLocks noGrp="1"/>
          </p:cNvSpPr>
          <p:nvPr>
            <p:ph type="dt" sz="half" idx="10"/>
          </p:nvPr>
        </p:nvSpPr>
        <p:spPr/>
        <p:txBody>
          <a:bodyPr/>
          <a:lstStyle/>
          <a:p>
            <a:fld id="{F31F4AF2-B0B9-AD4B-B0B0-BAC22A216424}" type="datetime1">
              <a:t>9/4/26</a:t>
            </a:fld>
            <a:endParaRPr lang="en-US"/>
          </a:p>
        </p:txBody>
      </p:sp>
      <p:sp>
        <p:nvSpPr>
          <p:cNvPr id="6" name="Footer Placeholder 5">
            <a:extLst>
              <a:ext uri="{FF2B5EF4-FFF2-40B4-BE49-F238E27FC236}">
                <a16:creationId xmlns:a16="http://schemas.microsoft.com/office/drawing/2014/main" id="{C4754753-4182-24FF-18CC-8BB0E90198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F1582-7E1B-3DA1-3F47-F02C9D327BDD}"/>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407404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8D410-F002-8D3C-C69B-C833D1C8EE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EF0FFF-6D20-3280-B883-D2F8C39AC2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C80C2F-DADD-CDE4-809E-01DECDC9A72B}"/>
              </a:ext>
            </a:extLst>
          </p:cNvPr>
          <p:cNvSpPr>
            <a:spLocks noGrp="1"/>
          </p:cNvSpPr>
          <p:nvPr>
            <p:ph type="dt" sz="half" idx="10"/>
          </p:nvPr>
        </p:nvSpPr>
        <p:spPr/>
        <p:txBody>
          <a:bodyPr/>
          <a:lstStyle/>
          <a:p>
            <a:fld id="{D8F750A5-AEDC-8340-9FAB-285060CB5AE2}" type="datetime1">
              <a:t>9/4/26</a:t>
            </a:fld>
            <a:endParaRPr lang="en-US"/>
          </a:p>
        </p:txBody>
      </p:sp>
      <p:sp>
        <p:nvSpPr>
          <p:cNvPr id="5" name="Footer Placeholder 4">
            <a:extLst>
              <a:ext uri="{FF2B5EF4-FFF2-40B4-BE49-F238E27FC236}">
                <a16:creationId xmlns:a16="http://schemas.microsoft.com/office/drawing/2014/main" id="{AF097905-E684-B6E0-2C6E-586B2F13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38DF6A-A177-C72F-6042-1411D35D8607}"/>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3906508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7D4B1C-A8D0-96AA-E9AD-1E3611F2ED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CE63DE-A585-DCF9-0100-70FF55A336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BB82D-0D2A-8B1B-085A-7011938B0601}"/>
              </a:ext>
            </a:extLst>
          </p:cNvPr>
          <p:cNvSpPr>
            <a:spLocks noGrp="1"/>
          </p:cNvSpPr>
          <p:nvPr>
            <p:ph type="dt" sz="half" idx="10"/>
          </p:nvPr>
        </p:nvSpPr>
        <p:spPr/>
        <p:txBody>
          <a:bodyPr/>
          <a:lstStyle/>
          <a:p>
            <a:fld id="{B2E12F28-2B4A-4D4F-9387-03D3052CD0B3}" type="datetime1">
              <a:t>9/4/26</a:t>
            </a:fld>
            <a:endParaRPr lang="en-US"/>
          </a:p>
        </p:txBody>
      </p:sp>
      <p:sp>
        <p:nvSpPr>
          <p:cNvPr id="5" name="Footer Placeholder 4">
            <a:extLst>
              <a:ext uri="{FF2B5EF4-FFF2-40B4-BE49-F238E27FC236}">
                <a16:creationId xmlns:a16="http://schemas.microsoft.com/office/drawing/2014/main" id="{F9BAB9CF-B6A8-F5B2-11B9-C3E14C6F4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9AA8E-D7D7-1192-22B2-D340BFC57FEA}"/>
              </a:ext>
            </a:extLst>
          </p:cNvPr>
          <p:cNvSpPr>
            <a:spLocks noGrp="1"/>
          </p:cNvSpPr>
          <p:nvPr>
            <p:ph type="sldNum" sz="quarter" idx="12"/>
          </p:nvPr>
        </p:nvSpPr>
        <p:spPr/>
        <p:txBody>
          <a:bodyPr/>
          <a:lstStyle/>
          <a:p>
            <a:fld id="{5053C554-E672-2741-BC14-778DD86FACCC}" type="slidenum">
              <a:rPr lang="en-US" smtClean="0"/>
              <a:t>‹#›</a:t>
            </a:fld>
            <a:endParaRPr lang="en-US"/>
          </a:p>
        </p:txBody>
      </p:sp>
    </p:spTree>
    <p:extLst>
      <p:ext uri="{BB962C8B-B14F-4D97-AF65-F5344CB8AC3E}">
        <p14:creationId xmlns:p14="http://schemas.microsoft.com/office/powerpoint/2010/main" val="18866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95F995-D24F-A8EA-D4FF-C3EE5AC16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B694DF-DE7F-9634-35D2-54F4231391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69AD5-5C70-0A1C-17D2-262BA67D5F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ABE6BF-003D-2945-8DAA-EB9DFE94A6CD}" type="datetime1">
              <a:t>9/4/26</a:t>
            </a:fld>
            <a:endParaRPr lang="en-US"/>
          </a:p>
        </p:txBody>
      </p:sp>
      <p:sp>
        <p:nvSpPr>
          <p:cNvPr id="5" name="Footer Placeholder 4">
            <a:extLst>
              <a:ext uri="{FF2B5EF4-FFF2-40B4-BE49-F238E27FC236}">
                <a16:creationId xmlns:a16="http://schemas.microsoft.com/office/drawing/2014/main" id="{C10A40E6-6B59-C0DC-62BB-B09456977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82792B2-0F01-231B-846B-B6D6688105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3C554-E672-2741-BC14-778DD86FACCC}" type="slidenum">
              <a:rPr lang="en-US" smtClean="0"/>
              <a:t>‹#›</a:t>
            </a:fld>
            <a:endParaRPr lang="en-US"/>
          </a:p>
        </p:txBody>
      </p:sp>
    </p:spTree>
    <p:extLst>
      <p:ext uri="{BB962C8B-B14F-4D97-AF65-F5344CB8AC3E}">
        <p14:creationId xmlns:p14="http://schemas.microsoft.com/office/powerpoint/2010/main" val="2059086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poloclub.github.io/diffusion-explainer/"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microsoft.com/office/2007/relationships/media" Target="../media/media2.mp3"/><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9.jpeg"/><Relationship Id="rId5" Type="http://schemas.openxmlformats.org/officeDocument/2006/relationships/slideLayout" Target="../slideLayouts/slideLayout1.xml"/><Relationship Id="rId4" Type="http://schemas.openxmlformats.org/officeDocument/2006/relationships/audio" Target="../media/media2.mp3"/></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29.jpeg"/><Relationship Id="rId4" Type="http://schemas.openxmlformats.org/officeDocument/2006/relationships/image" Target="../media/image30.jpg"/></Relationships>
</file>

<file path=ppt/slides/_rels/slide34.xml.rels><?xml version="1.0" encoding="UTF-8" standalone="yes"?>
<Relationships xmlns="http://schemas.openxmlformats.org/package/2006/relationships"><Relationship Id="rId2" Type="http://schemas.openxmlformats.org/officeDocument/2006/relationships/hyperlink" Target="https://sightengine.com/ai-or-not-music"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1.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3.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11.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3.png"/><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11.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hyperlink" Target="https://poloclub.github.io/diffusion-explainer/" TargetMode="External"/><Relationship Id="rId13" Type="http://schemas.openxmlformats.org/officeDocument/2006/relationships/hyperlink" Target="https://www.youtube.com/watch?v=rr9QJh-8iNs" TargetMode="External"/><Relationship Id="rId18" Type="http://schemas.openxmlformats.org/officeDocument/2006/relationships/hyperlink" Target="https://openart.ai/" TargetMode="External"/><Relationship Id="rId3" Type="http://schemas.openxmlformats.org/officeDocument/2006/relationships/hyperlink" Target="https://hellopoetry.com/poem/3313/not-knowing-when-the-dawn-will-come" TargetMode="External"/><Relationship Id="rId7" Type="http://schemas.openxmlformats.org/officeDocument/2006/relationships/hyperlink" Target="https://www.loc.gov/collections/tilton-c-reynolds-papers/" TargetMode="External"/><Relationship Id="rId12" Type="http://schemas.openxmlformats.org/officeDocument/2006/relationships/hyperlink" Target="https://www.youtube.com/shorts/Cib10Ju_UDU" TargetMode="External"/><Relationship Id="rId17" Type="http://schemas.openxmlformats.org/officeDocument/2006/relationships/hyperlink" Target="https://suno.com/" TargetMode="External"/><Relationship Id="rId2" Type="http://schemas.openxmlformats.org/officeDocument/2006/relationships/hyperlink" Target="https://hfarid.org/misc/AIorNotQuiz/" TargetMode="External"/><Relationship Id="rId16" Type="http://schemas.openxmlformats.org/officeDocument/2006/relationships/hyperlink" Target="https://www.midjourney.com/" TargetMode="External"/><Relationship Id="rId1" Type="http://schemas.openxmlformats.org/officeDocument/2006/relationships/slideLayout" Target="../slideLayouts/slideLayout1.xml"/><Relationship Id="rId6" Type="http://schemas.openxmlformats.org/officeDocument/2006/relationships/hyperlink" Target="https://www.amazon.com/Dr-Fish-Stainless-Fishing-Terminal-Connector/dp/B07MVW7867?th=1" TargetMode="External"/><Relationship Id="rId11" Type="http://schemas.openxmlformats.org/officeDocument/2006/relationships/hyperlink" Target="https://www.tiktok.com/@rachelthecatlovers/video/7531584773500751118" TargetMode="External"/><Relationship Id="rId5" Type="http://schemas.openxmlformats.org/officeDocument/2006/relationships/hyperlink" Target="https://www.nature.com/articles/s41598-024-76900-1" TargetMode="External"/><Relationship Id="rId15" Type="http://schemas.openxmlformats.org/officeDocument/2006/relationships/hyperlink" Target="https://claude.ai/" TargetMode="External"/><Relationship Id="rId10" Type="http://schemas.openxmlformats.org/officeDocument/2006/relationships/hyperlink" Target="https://en.wikipedia.org/wiki/Will_Smith_Eating_Spaghetti_test" TargetMode="External"/><Relationship Id="rId19" Type="http://schemas.openxmlformats.org/officeDocument/2006/relationships/hyperlink" Target="https://downr.org/" TargetMode="External"/><Relationship Id="rId4" Type="http://schemas.openxmlformats.org/officeDocument/2006/relationships/hyperlink" Target="https://allpoetry.com/An-Eastern-Ballad" TargetMode="External"/><Relationship Id="rId9" Type="http://schemas.openxmlformats.org/officeDocument/2006/relationships/hyperlink" Target="https://sightengine.com/ai-or-not-music" TargetMode="External"/><Relationship Id="rId14" Type="http://schemas.openxmlformats.org/officeDocument/2006/relationships/hyperlink" Target="https://www.instagram.com/p/DZWcrZ7k-sV/?hl=e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67846C-1C87-C050-EA4E-E6D4EB2689DD}"/>
              </a:ext>
            </a:extLst>
          </p:cNvPr>
          <p:cNvSpPr txBox="1"/>
          <p:nvPr/>
        </p:nvSpPr>
        <p:spPr>
          <a:xfrm>
            <a:off x="2249020" y="2469359"/>
            <a:ext cx="7693960" cy="1569660"/>
          </a:xfrm>
          <a:prstGeom prst="rect">
            <a:avLst/>
          </a:prstGeom>
          <a:noFill/>
        </p:spPr>
        <p:txBody>
          <a:bodyPr wrap="square" rtlCol="0">
            <a:spAutoFit/>
          </a:bodyPr>
          <a:lstStyle/>
          <a:p>
            <a:r>
              <a:rPr lang="en-US" sz="9600" b="1">
                <a:solidFill>
                  <a:schemeClr val="bg1"/>
                </a:solidFill>
                <a:latin typeface="American Typewriter" panose="02090604020004020304" pitchFamily="18" charset="77"/>
              </a:rPr>
              <a:t>Real or not?</a:t>
            </a:r>
          </a:p>
        </p:txBody>
      </p:sp>
    </p:spTree>
    <p:extLst>
      <p:ext uri="{BB962C8B-B14F-4D97-AF65-F5344CB8AC3E}">
        <p14:creationId xmlns:p14="http://schemas.microsoft.com/office/powerpoint/2010/main" val="3555924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C0A4582B-D883-8F07-FCB5-6946A0441E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145895-B9DC-6999-B0FC-E262D67AD9AE}"/>
              </a:ext>
            </a:extLst>
          </p:cNvPr>
          <p:cNvPicPr>
            <a:picLocks noChangeAspect="1"/>
          </p:cNvPicPr>
          <p:nvPr/>
        </p:nvPicPr>
        <p:blipFill>
          <a:blip r:embed="rId2"/>
          <a:stretch>
            <a:fillRect/>
          </a:stretch>
        </p:blipFill>
        <p:spPr>
          <a:xfrm>
            <a:off x="814294" y="661894"/>
            <a:ext cx="5106894" cy="5106894"/>
          </a:xfrm>
          <a:prstGeom prst="rect">
            <a:avLst/>
          </a:prstGeom>
        </p:spPr>
      </p:pic>
      <p:pic>
        <p:nvPicPr>
          <p:cNvPr id="5" name="Picture 4">
            <a:extLst>
              <a:ext uri="{FF2B5EF4-FFF2-40B4-BE49-F238E27FC236}">
                <a16:creationId xmlns:a16="http://schemas.microsoft.com/office/drawing/2014/main" id="{D2D50C36-02A7-BAC6-5392-E24252432621}"/>
              </a:ext>
            </a:extLst>
          </p:cNvPr>
          <p:cNvPicPr>
            <a:picLocks noChangeAspect="1"/>
          </p:cNvPicPr>
          <p:nvPr/>
        </p:nvPicPr>
        <p:blipFill>
          <a:blip r:embed="rId3"/>
          <a:stretch>
            <a:fillRect/>
          </a:stretch>
        </p:blipFill>
        <p:spPr>
          <a:xfrm>
            <a:off x="6270814" y="661894"/>
            <a:ext cx="5106894" cy="5106894"/>
          </a:xfrm>
          <a:prstGeom prst="rect">
            <a:avLst/>
          </a:prstGeom>
        </p:spPr>
      </p:pic>
      <p:pic>
        <p:nvPicPr>
          <p:cNvPr id="9" name="Picture 8">
            <a:extLst>
              <a:ext uri="{FF2B5EF4-FFF2-40B4-BE49-F238E27FC236}">
                <a16:creationId xmlns:a16="http://schemas.microsoft.com/office/drawing/2014/main" id="{FC5C98FF-BFB2-C7F6-CC26-8008021CA97B}"/>
              </a:ext>
            </a:extLst>
          </p:cNvPr>
          <p:cNvPicPr>
            <a:picLocks noChangeAspect="1"/>
          </p:cNvPicPr>
          <p:nvPr/>
        </p:nvPicPr>
        <p:blipFill>
          <a:blip r:embed="rId4"/>
          <a:stretch>
            <a:fillRect/>
          </a:stretch>
        </p:blipFill>
        <p:spPr>
          <a:xfrm>
            <a:off x="9327776" y="0"/>
            <a:ext cx="2864224" cy="2864224"/>
          </a:xfrm>
          <a:prstGeom prst="rect">
            <a:avLst/>
          </a:prstGeom>
        </p:spPr>
      </p:pic>
    </p:spTree>
    <p:extLst>
      <p:ext uri="{BB962C8B-B14F-4D97-AF65-F5344CB8AC3E}">
        <p14:creationId xmlns:p14="http://schemas.microsoft.com/office/powerpoint/2010/main" val="3215643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76BCF5A-E6A1-B324-65D4-5C5096184D4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2B6619B-1DCE-0A1F-16EF-E6C0883A1415}"/>
              </a:ext>
            </a:extLst>
          </p:cNvPr>
          <p:cNvPicPr>
            <a:picLocks noChangeAspect="1"/>
          </p:cNvPicPr>
          <p:nvPr/>
        </p:nvPicPr>
        <p:blipFill>
          <a:blip r:embed="rId2"/>
          <a:stretch>
            <a:fillRect/>
          </a:stretch>
        </p:blipFill>
        <p:spPr>
          <a:xfrm>
            <a:off x="652929" y="702235"/>
            <a:ext cx="5106894" cy="5106894"/>
          </a:xfrm>
          <a:prstGeom prst="rect">
            <a:avLst/>
          </a:prstGeom>
        </p:spPr>
      </p:pic>
      <p:pic>
        <p:nvPicPr>
          <p:cNvPr id="5" name="Picture 4">
            <a:extLst>
              <a:ext uri="{FF2B5EF4-FFF2-40B4-BE49-F238E27FC236}">
                <a16:creationId xmlns:a16="http://schemas.microsoft.com/office/drawing/2014/main" id="{D6CC1B2C-7876-8329-9E16-A620AB070CAB}"/>
              </a:ext>
            </a:extLst>
          </p:cNvPr>
          <p:cNvPicPr>
            <a:picLocks noChangeAspect="1"/>
          </p:cNvPicPr>
          <p:nvPr/>
        </p:nvPicPr>
        <p:blipFill>
          <a:blip r:embed="rId3"/>
          <a:stretch>
            <a:fillRect/>
          </a:stretch>
        </p:blipFill>
        <p:spPr>
          <a:xfrm>
            <a:off x="6432179" y="702235"/>
            <a:ext cx="5106894" cy="5106894"/>
          </a:xfrm>
          <a:prstGeom prst="rect">
            <a:avLst/>
          </a:prstGeom>
        </p:spPr>
      </p:pic>
      <p:pic>
        <p:nvPicPr>
          <p:cNvPr id="4" name="Picture 3">
            <a:extLst>
              <a:ext uri="{FF2B5EF4-FFF2-40B4-BE49-F238E27FC236}">
                <a16:creationId xmlns:a16="http://schemas.microsoft.com/office/drawing/2014/main" id="{D0262319-A7B4-4B62-AF51-1C4D3CEF909B}"/>
              </a:ext>
            </a:extLst>
          </p:cNvPr>
          <p:cNvPicPr>
            <a:picLocks noChangeAspect="1"/>
          </p:cNvPicPr>
          <p:nvPr/>
        </p:nvPicPr>
        <p:blipFill>
          <a:blip r:embed="rId4"/>
          <a:stretch>
            <a:fillRect/>
          </a:stretch>
        </p:blipFill>
        <p:spPr>
          <a:xfrm>
            <a:off x="9353182" y="0"/>
            <a:ext cx="2858247" cy="2858247"/>
          </a:xfrm>
          <a:prstGeom prst="rect">
            <a:avLst/>
          </a:prstGeom>
        </p:spPr>
      </p:pic>
    </p:spTree>
    <p:extLst>
      <p:ext uri="{BB962C8B-B14F-4D97-AF65-F5344CB8AC3E}">
        <p14:creationId xmlns:p14="http://schemas.microsoft.com/office/powerpoint/2010/main" val="404691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07AC2088-00AF-DA1C-FA06-4F259151F08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0DEEFF-C67D-D929-BF88-2310A2D289AC}"/>
              </a:ext>
            </a:extLst>
          </p:cNvPr>
          <p:cNvSpPr/>
          <p:nvPr/>
        </p:nvSpPr>
        <p:spPr>
          <a:xfrm>
            <a:off x="2839518" y="2314457"/>
            <a:ext cx="6512963" cy="2229085"/>
          </a:xfrm>
          <a:prstGeom prst="rect">
            <a:avLst/>
          </a:prstGeom>
          <a:solidFill>
            <a:srgbClr val="002D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600" b="1" i="1" dirty="0">
              <a:ln w="10160">
                <a:solidFill>
                  <a:schemeClr val="accent5"/>
                </a:solidFill>
                <a:prstDash val="solid"/>
              </a:ln>
              <a:solidFill>
                <a:schemeClr val="bg1"/>
              </a:solidFill>
              <a:effectLst>
                <a:outerShdw blurRad="38100" dist="22860" dir="5400000" algn="tl" rotWithShape="0">
                  <a:srgbClr val="000000">
                    <a:alpha val="30000"/>
                  </a:srgbClr>
                </a:outerShdw>
              </a:effectLst>
              <a:uFill>
                <a:solidFill>
                  <a:schemeClr val="bg1"/>
                </a:solidFill>
              </a:uFill>
              <a:latin typeface="American Typewriter" panose="02090604020004020304" pitchFamily="18" charset="77"/>
            </a:endParaRPr>
          </a:p>
        </p:txBody>
      </p:sp>
      <p:sp>
        <p:nvSpPr>
          <p:cNvPr id="4" name="TextBox 3">
            <a:extLst>
              <a:ext uri="{FF2B5EF4-FFF2-40B4-BE49-F238E27FC236}">
                <a16:creationId xmlns:a16="http://schemas.microsoft.com/office/drawing/2014/main" id="{E35BE869-FC00-DEA1-9F63-A924FE52B7D8}"/>
              </a:ext>
            </a:extLst>
          </p:cNvPr>
          <p:cNvSpPr txBox="1"/>
          <p:nvPr/>
        </p:nvSpPr>
        <p:spPr>
          <a:xfrm>
            <a:off x="3292287" y="2203704"/>
            <a:ext cx="5607423" cy="2579617"/>
          </a:xfrm>
          <a:prstGeom prst="rect">
            <a:avLst/>
          </a:prstGeom>
          <a:noFill/>
        </p:spPr>
        <p:txBody>
          <a:bodyPr wrap="square" rtlCol="0">
            <a:spAutoFit/>
          </a:bodyPr>
          <a:lstStyle/>
          <a:p>
            <a:pPr algn="ctr">
              <a:lnSpc>
                <a:spcPts val="6400"/>
              </a:lnSpc>
            </a:pPr>
            <a:r>
              <a:rPr lang="en-US" sz="6600" b="1" i="1" dirty="0">
                <a:solidFill>
                  <a:schemeClr val="bg1"/>
                </a:solidFill>
                <a:latin typeface="American Typewriter" panose="02090604020004020304" pitchFamily="18" charset="77"/>
              </a:rPr>
              <a:t>Generative</a:t>
            </a:r>
          </a:p>
          <a:p>
            <a:pPr algn="ctr">
              <a:lnSpc>
                <a:spcPts val="6400"/>
              </a:lnSpc>
            </a:pPr>
            <a:r>
              <a:rPr lang="en-US" sz="6600" b="1" dirty="0">
                <a:solidFill>
                  <a:schemeClr val="bg1"/>
                </a:solidFill>
                <a:latin typeface="American Typewriter" panose="02090604020004020304" pitchFamily="18" charset="77"/>
              </a:rPr>
              <a:t>Artificial</a:t>
            </a:r>
          </a:p>
          <a:p>
            <a:pPr algn="ctr">
              <a:lnSpc>
                <a:spcPts val="6400"/>
              </a:lnSpc>
            </a:pPr>
            <a:r>
              <a:rPr lang="en-US" sz="6600" b="1" dirty="0">
                <a:solidFill>
                  <a:schemeClr val="bg1"/>
                </a:solidFill>
                <a:latin typeface="American Typewriter" panose="02090604020004020304" pitchFamily="18" charset="77"/>
              </a:rPr>
              <a:t>Intelligence</a:t>
            </a:r>
          </a:p>
        </p:txBody>
      </p:sp>
    </p:spTree>
    <p:extLst>
      <p:ext uri="{BB962C8B-B14F-4D97-AF65-F5344CB8AC3E}">
        <p14:creationId xmlns:p14="http://schemas.microsoft.com/office/powerpoint/2010/main" val="413188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26992DA9-A9B0-911F-2DEB-0127330FAFA3}"/>
            </a:ext>
          </a:extLst>
        </p:cNvPr>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6256F5A7-2B2D-DCA5-84C4-0018B312277F}"/>
              </a:ext>
            </a:extLst>
          </p:cNvPr>
          <p:cNvCxnSpPr>
            <a:cxnSpLocks/>
          </p:cNvCxnSpPr>
          <p:nvPr/>
        </p:nvCxnSpPr>
        <p:spPr>
          <a:xfrm flipV="1">
            <a:off x="8848165" y="1788459"/>
            <a:ext cx="927847" cy="525998"/>
          </a:xfrm>
          <a:prstGeom prst="straightConnector1">
            <a:avLst/>
          </a:prstGeom>
          <a:ln w="1016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791AF77-D2C2-8F12-2BEA-7DBC2507BFF0}"/>
              </a:ext>
            </a:extLst>
          </p:cNvPr>
          <p:cNvCxnSpPr>
            <a:cxnSpLocks/>
          </p:cNvCxnSpPr>
          <p:nvPr/>
        </p:nvCxnSpPr>
        <p:spPr>
          <a:xfrm>
            <a:off x="8848165" y="4834216"/>
            <a:ext cx="793376" cy="470647"/>
          </a:xfrm>
          <a:prstGeom prst="straightConnector1">
            <a:avLst/>
          </a:prstGeom>
          <a:ln w="1016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F361E02-EBF9-1A5A-76F0-41A910CEC0E7}"/>
              </a:ext>
            </a:extLst>
          </p:cNvPr>
          <p:cNvCxnSpPr>
            <a:cxnSpLocks/>
          </p:cNvCxnSpPr>
          <p:nvPr/>
        </p:nvCxnSpPr>
        <p:spPr>
          <a:xfrm flipH="1" flipV="1">
            <a:off x="2483223" y="1701835"/>
            <a:ext cx="999565" cy="503483"/>
          </a:xfrm>
          <a:prstGeom prst="straightConnector1">
            <a:avLst/>
          </a:prstGeom>
          <a:ln w="1016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FFDBB81-D716-969E-42CE-5ED3E83AA757}"/>
              </a:ext>
            </a:extLst>
          </p:cNvPr>
          <p:cNvCxnSpPr>
            <a:cxnSpLocks/>
          </p:cNvCxnSpPr>
          <p:nvPr/>
        </p:nvCxnSpPr>
        <p:spPr>
          <a:xfrm flipH="1">
            <a:off x="2483223" y="4834216"/>
            <a:ext cx="932329" cy="470647"/>
          </a:xfrm>
          <a:prstGeom prst="straightConnector1">
            <a:avLst/>
          </a:prstGeom>
          <a:ln w="1016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036202A-FC73-ABCC-4BAF-A5BDFDF60F18}"/>
              </a:ext>
            </a:extLst>
          </p:cNvPr>
          <p:cNvSpPr txBox="1"/>
          <p:nvPr/>
        </p:nvSpPr>
        <p:spPr>
          <a:xfrm>
            <a:off x="9812030" y="568581"/>
            <a:ext cx="1787092" cy="923330"/>
          </a:xfrm>
          <a:prstGeom prst="rect">
            <a:avLst/>
          </a:prstGeom>
          <a:noFill/>
        </p:spPr>
        <p:txBody>
          <a:bodyPr wrap="none" rtlCol="0">
            <a:spAutoFit/>
          </a:bodyPr>
          <a:lstStyle/>
          <a:p>
            <a:r>
              <a:rPr lang="en-US" sz="5400" b="1" dirty="0">
                <a:solidFill>
                  <a:schemeClr val="bg1"/>
                </a:solidFill>
                <a:latin typeface="American Typewriter" panose="02090604020004020304" pitchFamily="18" charset="77"/>
              </a:rPr>
              <a:t>Text</a:t>
            </a:r>
          </a:p>
        </p:txBody>
      </p:sp>
      <p:sp>
        <p:nvSpPr>
          <p:cNvPr id="20" name="TextBox 19">
            <a:extLst>
              <a:ext uri="{FF2B5EF4-FFF2-40B4-BE49-F238E27FC236}">
                <a16:creationId xmlns:a16="http://schemas.microsoft.com/office/drawing/2014/main" id="{64896FC8-F619-BFE9-47C1-D21078C56E6D}"/>
              </a:ext>
            </a:extLst>
          </p:cNvPr>
          <p:cNvSpPr txBox="1"/>
          <p:nvPr/>
        </p:nvSpPr>
        <p:spPr>
          <a:xfrm>
            <a:off x="9352481" y="5304863"/>
            <a:ext cx="2706190" cy="923330"/>
          </a:xfrm>
          <a:prstGeom prst="rect">
            <a:avLst/>
          </a:prstGeom>
          <a:noFill/>
        </p:spPr>
        <p:txBody>
          <a:bodyPr wrap="none" rtlCol="0">
            <a:spAutoFit/>
          </a:bodyPr>
          <a:lstStyle/>
          <a:p>
            <a:r>
              <a:rPr lang="en-US" sz="5400" b="1" dirty="0">
                <a:solidFill>
                  <a:schemeClr val="bg1"/>
                </a:solidFill>
                <a:latin typeface="American Typewriter" panose="02090604020004020304" pitchFamily="18" charset="77"/>
              </a:rPr>
              <a:t>Images</a:t>
            </a:r>
          </a:p>
        </p:txBody>
      </p:sp>
      <p:sp>
        <p:nvSpPr>
          <p:cNvPr id="21" name="TextBox 20">
            <a:extLst>
              <a:ext uri="{FF2B5EF4-FFF2-40B4-BE49-F238E27FC236}">
                <a16:creationId xmlns:a16="http://schemas.microsoft.com/office/drawing/2014/main" id="{50BAD965-BCC8-BE63-FB54-1B64345EFFE6}"/>
              </a:ext>
            </a:extLst>
          </p:cNvPr>
          <p:cNvSpPr txBox="1"/>
          <p:nvPr/>
        </p:nvSpPr>
        <p:spPr>
          <a:xfrm>
            <a:off x="219635" y="568581"/>
            <a:ext cx="2253374" cy="923330"/>
          </a:xfrm>
          <a:prstGeom prst="rect">
            <a:avLst/>
          </a:prstGeom>
          <a:noFill/>
        </p:spPr>
        <p:txBody>
          <a:bodyPr wrap="none" rtlCol="0">
            <a:spAutoFit/>
          </a:bodyPr>
          <a:lstStyle/>
          <a:p>
            <a:r>
              <a:rPr lang="en-US" sz="5400" b="1" dirty="0">
                <a:solidFill>
                  <a:schemeClr val="bg1"/>
                </a:solidFill>
                <a:latin typeface="American Typewriter" panose="02090604020004020304" pitchFamily="18" charset="77"/>
              </a:rPr>
              <a:t>Audio</a:t>
            </a:r>
          </a:p>
        </p:txBody>
      </p:sp>
      <p:sp>
        <p:nvSpPr>
          <p:cNvPr id="22" name="TextBox 21">
            <a:extLst>
              <a:ext uri="{FF2B5EF4-FFF2-40B4-BE49-F238E27FC236}">
                <a16:creationId xmlns:a16="http://schemas.microsoft.com/office/drawing/2014/main" id="{5E0D26E6-41DB-ACEC-2F16-4552A302BA0E}"/>
              </a:ext>
            </a:extLst>
          </p:cNvPr>
          <p:cNvSpPr txBox="1"/>
          <p:nvPr/>
        </p:nvSpPr>
        <p:spPr>
          <a:xfrm>
            <a:off x="263012" y="5304863"/>
            <a:ext cx="2166619" cy="923330"/>
          </a:xfrm>
          <a:prstGeom prst="rect">
            <a:avLst/>
          </a:prstGeom>
          <a:noFill/>
        </p:spPr>
        <p:txBody>
          <a:bodyPr wrap="none" rtlCol="0">
            <a:spAutoFit/>
          </a:bodyPr>
          <a:lstStyle/>
          <a:p>
            <a:r>
              <a:rPr lang="en-US" sz="5400" b="1" dirty="0">
                <a:solidFill>
                  <a:schemeClr val="bg1"/>
                </a:solidFill>
                <a:latin typeface="American Typewriter" panose="02090604020004020304" pitchFamily="18" charset="77"/>
              </a:rPr>
              <a:t>Video</a:t>
            </a:r>
          </a:p>
        </p:txBody>
      </p:sp>
      <p:sp>
        <p:nvSpPr>
          <p:cNvPr id="23" name="TextBox 22">
            <a:extLst>
              <a:ext uri="{FF2B5EF4-FFF2-40B4-BE49-F238E27FC236}">
                <a16:creationId xmlns:a16="http://schemas.microsoft.com/office/drawing/2014/main" id="{A0475CE3-592D-ED79-1144-7258F507BD2C}"/>
              </a:ext>
            </a:extLst>
          </p:cNvPr>
          <p:cNvSpPr txBox="1"/>
          <p:nvPr/>
        </p:nvSpPr>
        <p:spPr>
          <a:xfrm>
            <a:off x="3292288" y="2202283"/>
            <a:ext cx="5607423" cy="2579617"/>
          </a:xfrm>
          <a:prstGeom prst="rect">
            <a:avLst/>
          </a:prstGeom>
          <a:noFill/>
        </p:spPr>
        <p:txBody>
          <a:bodyPr wrap="square" rtlCol="0">
            <a:spAutoFit/>
          </a:bodyPr>
          <a:lstStyle/>
          <a:p>
            <a:pPr algn="ctr">
              <a:lnSpc>
                <a:spcPts val="6400"/>
              </a:lnSpc>
            </a:pPr>
            <a:r>
              <a:rPr lang="en-US" sz="6600" b="1" i="1" dirty="0">
                <a:solidFill>
                  <a:schemeClr val="bg1"/>
                </a:solidFill>
                <a:latin typeface="American Typewriter" panose="02090604020004020304" pitchFamily="18" charset="77"/>
              </a:rPr>
              <a:t>Generative</a:t>
            </a:r>
          </a:p>
          <a:p>
            <a:pPr algn="ctr">
              <a:lnSpc>
                <a:spcPts val="6400"/>
              </a:lnSpc>
            </a:pPr>
            <a:r>
              <a:rPr lang="en-US" sz="6600" b="1" dirty="0">
                <a:solidFill>
                  <a:schemeClr val="bg1"/>
                </a:solidFill>
                <a:latin typeface="American Typewriter" panose="02090604020004020304" pitchFamily="18" charset="77"/>
              </a:rPr>
              <a:t>Artificial</a:t>
            </a:r>
          </a:p>
          <a:p>
            <a:pPr algn="ctr">
              <a:lnSpc>
                <a:spcPts val="6400"/>
              </a:lnSpc>
            </a:pPr>
            <a:r>
              <a:rPr lang="en-US" sz="6600" b="1" dirty="0">
                <a:solidFill>
                  <a:schemeClr val="bg1"/>
                </a:solidFill>
                <a:latin typeface="American Typewriter" panose="02090604020004020304" pitchFamily="18" charset="77"/>
              </a:rPr>
              <a:t>Intelligence</a:t>
            </a:r>
          </a:p>
        </p:txBody>
      </p:sp>
    </p:spTree>
    <p:extLst>
      <p:ext uri="{BB962C8B-B14F-4D97-AF65-F5344CB8AC3E}">
        <p14:creationId xmlns:p14="http://schemas.microsoft.com/office/powerpoint/2010/main" val="777829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70376F15-1E34-E1A8-D182-208E5F95AE3C}"/>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FBE64716-54AA-7303-6DD0-DBBC7581545A}"/>
              </a:ext>
            </a:extLst>
          </p:cNvPr>
          <p:cNvSpPr txBox="1"/>
          <p:nvPr/>
        </p:nvSpPr>
        <p:spPr>
          <a:xfrm>
            <a:off x="4099111" y="2746352"/>
            <a:ext cx="3529853" cy="1042850"/>
          </a:xfrm>
          <a:prstGeom prst="rect">
            <a:avLst/>
          </a:prstGeom>
          <a:noFill/>
        </p:spPr>
        <p:txBody>
          <a:bodyPr wrap="square" rtlCol="0">
            <a:spAutoFit/>
          </a:bodyPr>
          <a:lstStyle/>
          <a:p>
            <a:pPr algn="ctr">
              <a:lnSpc>
                <a:spcPts val="6400"/>
              </a:lnSpc>
            </a:pPr>
            <a:r>
              <a:rPr lang="en-US" sz="9600" b="1" dirty="0">
                <a:solidFill>
                  <a:schemeClr val="bg1"/>
                </a:solidFill>
                <a:latin typeface="American Typewriter" panose="02090604020004020304" pitchFamily="18" charset="77"/>
              </a:rPr>
              <a:t>Text</a:t>
            </a:r>
          </a:p>
        </p:txBody>
      </p:sp>
    </p:spTree>
    <p:extLst>
      <p:ext uri="{BB962C8B-B14F-4D97-AF65-F5344CB8AC3E}">
        <p14:creationId xmlns:p14="http://schemas.microsoft.com/office/powerpoint/2010/main" val="2396239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DA6440A4-D0FB-5E5E-6BB5-37DCC3201C1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7E30A9E-85A5-69BD-7F1B-BE5EAE4BAE44}"/>
              </a:ext>
            </a:extLst>
          </p:cNvPr>
          <p:cNvSpPr txBox="1"/>
          <p:nvPr/>
        </p:nvSpPr>
        <p:spPr>
          <a:xfrm>
            <a:off x="309282" y="228600"/>
            <a:ext cx="6037730" cy="830997"/>
          </a:xfrm>
          <a:prstGeom prst="rect">
            <a:avLst/>
          </a:prstGeom>
          <a:noFill/>
        </p:spPr>
        <p:txBody>
          <a:bodyPr wrap="square" rtlCol="0">
            <a:spAutoFit/>
          </a:bodyPr>
          <a:lstStyle/>
          <a:p>
            <a:r>
              <a:rPr lang="en-US" sz="4800" b="1">
                <a:solidFill>
                  <a:schemeClr val="bg1"/>
                </a:solidFill>
                <a:latin typeface="American Typewriter" panose="02090604020004020304" pitchFamily="18" charset="77"/>
              </a:rPr>
              <a:t>Text: Embeddings</a:t>
            </a:r>
          </a:p>
        </p:txBody>
      </p:sp>
      <p:sp>
        <p:nvSpPr>
          <p:cNvPr id="7" name="TextBox 6">
            <a:extLst>
              <a:ext uri="{FF2B5EF4-FFF2-40B4-BE49-F238E27FC236}">
                <a16:creationId xmlns:a16="http://schemas.microsoft.com/office/drawing/2014/main" id="{DBD6B768-4A11-D948-2CDD-83BB0FCF2609}"/>
              </a:ext>
            </a:extLst>
          </p:cNvPr>
          <p:cNvSpPr txBox="1"/>
          <p:nvPr/>
        </p:nvSpPr>
        <p:spPr>
          <a:xfrm>
            <a:off x="1376082" y="1389530"/>
            <a:ext cx="9439835" cy="830997"/>
          </a:xfrm>
          <a:prstGeom prst="rect">
            <a:avLst/>
          </a:prstGeom>
          <a:noFill/>
        </p:spPr>
        <p:txBody>
          <a:bodyPr wrap="square" rtlCol="0">
            <a:spAutoFit/>
          </a:bodyPr>
          <a:lstStyle/>
          <a:p>
            <a:r>
              <a:rPr lang="en-US" sz="4800" b="1">
                <a:solidFill>
                  <a:schemeClr val="bg1"/>
                </a:solidFill>
                <a:latin typeface="American Typewriter" panose="02090604020004020304" pitchFamily="18" charset="77"/>
              </a:rPr>
              <a:t>King = Queen – Woman + Man</a:t>
            </a:r>
          </a:p>
        </p:txBody>
      </p:sp>
      <p:pic>
        <p:nvPicPr>
          <p:cNvPr id="9" name="Picture 8">
            <a:extLst>
              <a:ext uri="{FF2B5EF4-FFF2-40B4-BE49-F238E27FC236}">
                <a16:creationId xmlns:a16="http://schemas.microsoft.com/office/drawing/2014/main" id="{3019C3C8-4DB4-BE80-1E93-FC64668D48E4}"/>
              </a:ext>
            </a:extLst>
          </p:cNvPr>
          <p:cNvPicPr>
            <a:picLocks noChangeAspect="1"/>
          </p:cNvPicPr>
          <p:nvPr/>
        </p:nvPicPr>
        <p:blipFill>
          <a:blip r:embed="rId2"/>
          <a:stretch>
            <a:fillRect/>
          </a:stretch>
        </p:blipFill>
        <p:spPr>
          <a:xfrm>
            <a:off x="1030656" y="2866945"/>
            <a:ext cx="10130685" cy="3541058"/>
          </a:xfrm>
          <a:prstGeom prst="rect">
            <a:avLst/>
          </a:prstGeom>
        </p:spPr>
      </p:pic>
    </p:spTree>
    <p:extLst>
      <p:ext uri="{BB962C8B-B14F-4D97-AF65-F5344CB8AC3E}">
        <p14:creationId xmlns:p14="http://schemas.microsoft.com/office/powerpoint/2010/main" val="146275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D2677383-9391-83D2-BEA8-17D4D9B0519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8184C8D-4D17-5B58-BDCE-C9731B89E865}"/>
              </a:ext>
            </a:extLst>
          </p:cNvPr>
          <p:cNvPicPr>
            <a:picLocks noChangeAspect="1"/>
          </p:cNvPicPr>
          <p:nvPr/>
        </p:nvPicPr>
        <p:blipFill>
          <a:blip r:embed="rId2"/>
          <a:stretch>
            <a:fillRect/>
          </a:stretch>
        </p:blipFill>
        <p:spPr>
          <a:xfrm>
            <a:off x="6350" y="0"/>
            <a:ext cx="12185650" cy="6861574"/>
          </a:xfrm>
          <a:prstGeom prst="rect">
            <a:avLst/>
          </a:prstGeom>
        </p:spPr>
      </p:pic>
    </p:spTree>
    <p:extLst>
      <p:ext uri="{BB962C8B-B14F-4D97-AF65-F5344CB8AC3E}">
        <p14:creationId xmlns:p14="http://schemas.microsoft.com/office/powerpoint/2010/main" val="1374346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E53C9CEE-1028-B0A8-07D5-AD88DF2572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C1D59C-D804-7675-8D13-E84EAD01DB61}"/>
              </a:ext>
            </a:extLst>
          </p:cNvPr>
          <p:cNvPicPr>
            <a:picLocks noChangeAspect="1"/>
          </p:cNvPicPr>
          <p:nvPr/>
        </p:nvPicPr>
        <p:blipFill>
          <a:blip r:embed="rId2"/>
          <a:stretch>
            <a:fillRect/>
          </a:stretch>
        </p:blipFill>
        <p:spPr>
          <a:xfrm>
            <a:off x="534343" y="121023"/>
            <a:ext cx="11123314" cy="6615953"/>
          </a:xfrm>
          <a:prstGeom prst="rect">
            <a:avLst/>
          </a:prstGeom>
        </p:spPr>
      </p:pic>
    </p:spTree>
    <p:extLst>
      <p:ext uri="{BB962C8B-B14F-4D97-AF65-F5344CB8AC3E}">
        <p14:creationId xmlns:p14="http://schemas.microsoft.com/office/powerpoint/2010/main" val="1185829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4C11211-D10E-5C08-BBA5-A1CCB47442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7D2B32-3957-4A00-B600-0796F04E3128}"/>
              </a:ext>
            </a:extLst>
          </p:cNvPr>
          <p:cNvPicPr>
            <a:picLocks noChangeAspect="1"/>
          </p:cNvPicPr>
          <p:nvPr/>
        </p:nvPicPr>
        <p:blipFill>
          <a:blip r:embed="rId2"/>
          <a:stretch>
            <a:fillRect/>
          </a:stretch>
        </p:blipFill>
        <p:spPr>
          <a:xfrm>
            <a:off x="617854" y="1617678"/>
            <a:ext cx="10956291" cy="3622644"/>
          </a:xfrm>
          <a:prstGeom prst="rect">
            <a:avLst/>
          </a:prstGeom>
        </p:spPr>
      </p:pic>
      <p:pic>
        <p:nvPicPr>
          <p:cNvPr id="4" name="Picture 3">
            <a:extLst>
              <a:ext uri="{FF2B5EF4-FFF2-40B4-BE49-F238E27FC236}">
                <a16:creationId xmlns:a16="http://schemas.microsoft.com/office/drawing/2014/main" id="{80A887D2-7F30-8FB2-3F35-8936A2FE77AE}"/>
              </a:ext>
            </a:extLst>
          </p:cNvPr>
          <p:cNvPicPr>
            <a:picLocks noChangeAspect="1"/>
          </p:cNvPicPr>
          <p:nvPr/>
        </p:nvPicPr>
        <p:blipFill>
          <a:blip r:embed="rId3"/>
          <a:stretch>
            <a:fillRect/>
          </a:stretch>
        </p:blipFill>
        <p:spPr>
          <a:xfrm>
            <a:off x="9305365" y="-1"/>
            <a:ext cx="2886635" cy="2886635"/>
          </a:xfrm>
          <a:prstGeom prst="rect">
            <a:avLst/>
          </a:prstGeom>
        </p:spPr>
      </p:pic>
    </p:spTree>
    <p:extLst>
      <p:ext uri="{BB962C8B-B14F-4D97-AF65-F5344CB8AC3E}">
        <p14:creationId xmlns:p14="http://schemas.microsoft.com/office/powerpoint/2010/main" val="347327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C1F9F0A4-D101-58AE-5FF9-DA006B405F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D5E876-4594-2902-E6D4-1F9FC1DA320A}"/>
              </a:ext>
            </a:extLst>
          </p:cNvPr>
          <p:cNvPicPr>
            <a:picLocks noChangeAspect="1"/>
          </p:cNvPicPr>
          <p:nvPr/>
        </p:nvPicPr>
        <p:blipFill>
          <a:blip r:embed="rId2"/>
          <a:stretch>
            <a:fillRect/>
          </a:stretch>
        </p:blipFill>
        <p:spPr>
          <a:xfrm>
            <a:off x="589585" y="1519518"/>
            <a:ext cx="11012829" cy="3818964"/>
          </a:xfrm>
          <a:prstGeom prst="rect">
            <a:avLst/>
          </a:prstGeom>
        </p:spPr>
      </p:pic>
      <p:pic>
        <p:nvPicPr>
          <p:cNvPr id="4" name="Picture 3">
            <a:extLst>
              <a:ext uri="{FF2B5EF4-FFF2-40B4-BE49-F238E27FC236}">
                <a16:creationId xmlns:a16="http://schemas.microsoft.com/office/drawing/2014/main" id="{3E256E7F-99E8-48B9-7917-F758FFB74458}"/>
              </a:ext>
            </a:extLst>
          </p:cNvPr>
          <p:cNvPicPr>
            <a:picLocks noChangeAspect="1"/>
          </p:cNvPicPr>
          <p:nvPr/>
        </p:nvPicPr>
        <p:blipFill>
          <a:blip r:embed="rId3"/>
          <a:stretch>
            <a:fillRect/>
          </a:stretch>
        </p:blipFill>
        <p:spPr>
          <a:xfrm rot="20491656">
            <a:off x="8557661" y="268942"/>
            <a:ext cx="3387074" cy="2111562"/>
          </a:xfrm>
          <a:prstGeom prst="rect">
            <a:avLst/>
          </a:prstGeom>
        </p:spPr>
      </p:pic>
    </p:spTree>
    <p:extLst>
      <p:ext uri="{BB962C8B-B14F-4D97-AF65-F5344CB8AC3E}">
        <p14:creationId xmlns:p14="http://schemas.microsoft.com/office/powerpoint/2010/main" val="111080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ACB524F4-7303-C98C-65C4-DA0860B906B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DE0A15C-EE9B-4244-4299-E459035CF6D2}"/>
              </a:ext>
            </a:extLst>
          </p:cNvPr>
          <p:cNvPicPr>
            <a:picLocks noChangeAspect="1"/>
          </p:cNvPicPr>
          <p:nvPr/>
        </p:nvPicPr>
        <p:blipFill>
          <a:blip r:embed="rId2"/>
          <a:stretch>
            <a:fillRect/>
          </a:stretch>
        </p:blipFill>
        <p:spPr>
          <a:xfrm>
            <a:off x="603463" y="1492623"/>
            <a:ext cx="10985073" cy="3872753"/>
          </a:xfrm>
          <a:prstGeom prst="rect">
            <a:avLst/>
          </a:prstGeom>
        </p:spPr>
      </p:pic>
      <p:pic>
        <p:nvPicPr>
          <p:cNvPr id="4" name="Picture 3">
            <a:extLst>
              <a:ext uri="{FF2B5EF4-FFF2-40B4-BE49-F238E27FC236}">
                <a16:creationId xmlns:a16="http://schemas.microsoft.com/office/drawing/2014/main" id="{B4EA7F8C-22E6-C6D2-E5D0-5E58F93A3698}"/>
              </a:ext>
            </a:extLst>
          </p:cNvPr>
          <p:cNvPicPr>
            <a:picLocks noChangeAspect="1"/>
          </p:cNvPicPr>
          <p:nvPr/>
        </p:nvPicPr>
        <p:blipFill>
          <a:blip r:embed="rId3"/>
          <a:stretch>
            <a:fillRect/>
          </a:stretch>
        </p:blipFill>
        <p:spPr>
          <a:xfrm>
            <a:off x="9291918" y="1"/>
            <a:ext cx="2900082" cy="2900082"/>
          </a:xfrm>
          <a:prstGeom prst="rect">
            <a:avLst/>
          </a:prstGeom>
        </p:spPr>
      </p:pic>
    </p:spTree>
    <p:extLst>
      <p:ext uri="{BB962C8B-B14F-4D97-AF65-F5344CB8AC3E}">
        <p14:creationId xmlns:p14="http://schemas.microsoft.com/office/powerpoint/2010/main" val="321032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C0955E6C-EC87-0B78-0C2F-E48FC4A7E2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3007B3-964A-E6B8-BD5A-E682EC583560}"/>
              </a:ext>
            </a:extLst>
          </p:cNvPr>
          <p:cNvPicPr>
            <a:picLocks noChangeAspect="1"/>
          </p:cNvPicPr>
          <p:nvPr/>
        </p:nvPicPr>
        <p:blipFill>
          <a:blip r:embed="rId2"/>
          <a:stretch>
            <a:fillRect/>
          </a:stretch>
        </p:blipFill>
        <p:spPr>
          <a:xfrm>
            <a:off x="964079" y="152400"/>
            <a:ext cx="4965700" cy="6553200"/>
          </a:xfrm>
          <a:prstGeom prst="rect">
            <a:avLst/>
          </a:prstGeom>
        </p:spPr>
      </p:pic>
      <p:pic>
        <p:nvPicPr>
          <p:cNvPr id="7" name="Picture 6">
            <a:extLst>
              <a:ext uri="{FF2B5EF4-FFF2-40B4-BE49-F238E27FC236}">
                <a16:creationId xmlns:a16="http://schemas.microsoft.com/office/drawing/2014/main" id="{2BD616FD-DEC0-11D4-B956-A00ACAC7BA90}"/>
              </a:ext>
            </a:extLst>
          </p:cNvPr>
          <p:cNvPicPr>
            <a:picLocks noChangeAspect="1"/>
          </p:cNvPicPr>
          <p:nvPr/>
        </p:nvPicPr>
        <p:blipFill>
          <a:blip r:embed="rId3"/>
          <a:stretch>
            <a:fillRect/>
          </a:stretch>
        </p:blipFill>
        <p:spPr>
          <a:xfrm>
            <a:off x="7044765" y="141886"/>
            <a:ext cx="4049059" cy="6542686"/>
          </a:xfrm>
          <a:prstGeom prst="rect">
            <a:avLst/>
          </a:prstGeom>
        </p:spPr>
      </p:pic>
    </p:spTree>
    <p:extLst>
      <p:ext uri="{BB962C8B-B14F-4D97-AF65-F5344CB8AC3E}">
        <p14:creationId xmlns:p14="http://schemas.microsoft.com/office/powerpoint/2010/main" val="1873312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97B3961-07DD-5371-191E-BC321AFEAD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A179C0-1C60-829B-9CE7-56537B3931AB}"/>
              </a:ext>
            </a:extLst>
          </p:cNvPr>
          <p:cNvSpPr txBox="1"/>
          <p:nvPr/>
        </p:nvSpPr>
        <p:spPr>
          <a:xfrm>
            <a:off x="320488" y="0"/>
            <a:ext cx="11551024" cy="6740307"/>
          </a:xfrm>
          <a:prstGeom prst="rect">
            <a:avLst/>
          </a:prstGeom>
          <a:noFill/>
        </p:spPr>
        <p:txBody>
          <a:bodyPr wrap="square" rtlCol="0">
            <a:spAutoFit/>
          </a:bodyPr>
          <a:lstStyle/>
          <a:p>
            <a:r>
              <a:rPr lang="en-US" b="1" dirty="0">
                <a:solidFill>
                  <a:schemeClr val="bg1"/>
                </a:solidFill>
                <a:latin typeface="American Typewriter" panose="02090604020004020304" pitchFamily="18" charset="77"/>
              </a:rPr>
              <a:t>Camp Griffin Jan 9th 1862</a:t>
            </a:r>
            <a:endParaRPr lang="en-US" dirty="0">
              <a:solidFill>
                <a:schemeClr val="bg1"/>
              </a:solidFill>
              <a:latin typeface="American Typewriter" panose="02090604020004020304" pitchFamily="18" charset="77"/>
            </a:endParaRP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Dear Mother,</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I received your letter of the 2nd and was glad to hear you are all in good health as this leaves me at present. We have had a hard week of it here with the cold. The tents are poor Shelter when the wind gets up in the night and a good many of the Boys have taken cold. I keep warm enough with the Blankets you Sent and the overcoat So you need not worry on that acct.</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There is not much doing here. We drill in the fore noon when the ground will bear It and the rest of the time a man has to find his own amusement. Some of the Boys have got up a Debating Society and meet in the Chaplains tent of an evening. I went once But it was mostly the Same three or four talking and I had rather write letters.</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Our rations are Better than they were. We drew fresh Beef twice this week which is a great improvement on the Salt. I have not been Sick a day Since I came out which is more than most can Say.</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Jacob Wolfe got a Box from home and there was a fruit cake in It that had gone Bad. We ate the rest of It any way. If you Send one do not put in any thing that will not keep for they are Slow in coming.</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Write when you can and tell me how Father is getting on with the Stock.</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Your affectionate Son</a:t>
            </a:r>
            <a:br>
              <a:rPr lang="en-US" dirty="0">
                <a:solidFill>
                  <a:schemeClr val="bg1"/>
                </a:solidFill>
                <a:latin typeface="American Typewriter" panose="02090604020004020304" pitchFamily="18" charset="77"/>
              </a:rPr>
            </a:br>
            <a:r>
              <a:rPr lang="en-US" dirty="0">
                <a:solidFill>
                  <a:schemeClr val="bg1"/>
                </a:solidFill>
                <a:latin typeface="American Typewriter" panose="02090604020004020304" pitchFamily="18" charset="77"/>
              </a:rPr>
              <a:t>Tilton</a:t>
            </a:r>
          </a:p>
        </p:txBody>
      </p:sp>
      <p:pic>
        <p:nvPicPr>
          <p:cNvPr id="4" name="Picture 3">
            <a:extLst>
              <a:ext uri="{FF2B5EF4-FFF2-40B4-BE49-F238E27FC236}">
                <a16:creationId xmlns:a16="http://schemas.microsoft.com/office/drawing/2014/main" id="{EE9AB83A-DCC0-3B09-3003-4854AD8F1BD3}"/>
              </a:ext>
            </a:extLst>
          </p:cNvPr>
          <p:cNvPicPr>
            <a:picLocks noChangeAspect="1"/>
          </p:cNvPicPr>
          <p:nvPr/>
        </p:nvPicPr>
        <p:blipFill>
          <a:blip r:embed="rId2"/>
          <a:stretch>
            <a:fillRect/>
          </a:stretch>
        </p:blipFill>
        <p:spPr>
          <a:xfrm rot="20868212">
            <a:off x="8478177" y="327575"/>
            <a:ext cx="3322365" cy="2071221"/>
          </a:xfrm>
          <a:prstGeom prst="rect">
            <a:avLst/>
          </a:prstGeom>
        </p:spPr>
      </p:pic>
    </p:spTree>
    <p:extLst>
      <p:ext uri="{BB962C8B-B14F-4D97-AF65-F5344CB8AC3E}">
        <p14:creationId xmlns:p14="http://schemas.microsoft.com/office/powerpoint/2010/main" val="389012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18F10A58-71D3-C685-ECA0-37178F7DC7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0551E4-3B39-50F1-4EB9-F7F44D1F1819}"/>
              </a:ext>
            </a:extLst>
          </p:cNvPr>
          <p:cNvSpPr txBox="1"/>
          <p:nvPr/>
        </p:nvSpPr>
        <p:spPr>
          <a:xfrm>
            <a:off x="53788" y="112707"/>
            <a:ext cx="12084424" cy="6632585"/>
          </a:xfrm>
          <a:prstGeom prst="rect">
            <a:avLst/>
          </a:prstGeom>
          <a:noFill/>
        </p:spPr>
        <p:txBody>
          <a:bodyPr wrap="square" rtlCol="0">
            <a:spAutoFit/>
          </a:bodyPr>
          <a:lstStyle/>
          <a:p>
            <a:r>
              <a:rPr lang="en-US" sz="1700" b="1" dirty="0">
                <a:solidFill>
                  <a:schemeClr val="bg1"/>
                </a:solidFill>
                <a:latin typeface="American Typewriter" panose="02090604020004020304" pitchFamily="18" charset="77"/>
              </a:rPr>
              <a:t>Headquarters 105th </a:t>
            </a:r>
            <a:r>
              <a:rPr lang="en-US" sz="1700" b="1" dirty="0" err="1">
                <a:solidFill>
                  <a:schemeClr val="bg1"/>
                </a:solidFill>
                <a:latin typeface="American Typewriter" panose="02090604020004020304" pitchFamily="18" charset="77"/>
              </a:rPr>
              <a:t>Reg't</a:t>
            </a:r>
            <a:r>
              <a:rPr lang="en-US" sz="1700" b="1" dirty="0">
                <a:solidFill>
                  <a:schemeClr val="bg1"/>
                </a:solidFill>
                <a:latin typeface="American Typewriter" panose="02090604020004020304" pitchFamily="18" charset="77"/>
              </a:rPr>
              <a:t>. Co.  H</a:t>
            </a:r>
          </a:p>
          <a:p>
            <a:r>
              <a:rPr lang="en-US" sz="1700" b="1" dirty="0">
                <a:solidFill>
                  <a:schemeClr val="bg1"/>
                </a:solidFill>
                <a:latin typeface="American Typewriter" panose="02090604020004020304" pitchFamily="18" charset="77"/>
              </a:rPr>
              <a:t>Camp Jameson Nov 24th 1861 </a:t>
            </a:r>
          </a:p>
          <a:p>
            <a:endParaRPr lang="en-US" sz="1700" dirty="0">
              <a:solidFill>
                <a:schemeClr val="bg1"/>
              </a:solidFill>
              <a:latin typeface="American Typewriter" panose="02090604020004020304" pitchFamily="18" charset="77"/>
            </a:endParaRPr>
          </a:p>
          <a:p>
            <a:r>
              <a:rPr lang="en-US" sz="1700" dirty="0">
                <a:solidFill>
                  <a:schemeClr val="bg1"/>
                </a:solidFill>
                <a:latin typeface="American Typewriter" panose="02090604020004020304" pitchFamily="18" charset="77"/>
              </a:rPr>
              <a:t>Dear Mother, </a:t>
            </a:r>
          </a:p>
          <a:p>
            <a:r>
              <a:rPr lang="en-US" sz="1700" dirty="0">
                <a:solidFill>
                  <a:schemeClr val="bg1"/>
                </a:solidFill>
                <a:latin typeface="American Typewriter" panose="02090604020004020304" pitchFamily="18" charset="77"/>
              </a:rPr>
              <a:t>Again I take up my pen to write a few lines to you though I have told Clarinda nearly all the news I could think off. But if have no news I will write any way. Bill Green has Spent nearly all the money he had left So there is a poor Sight of him Sending any to you which he Should have done in the first place...There is one thing I have been going to tell you for a long time that is concerning our Col. I never Seen a man So </a:t>
            </a:r>
            <a:r>
              <a:rPr lang="en-US" sz="1700" dirty="0" err="1">
                <a:solidFill>
                  <a:schemeClr val="bg1"/>
                </a:solidFill>
                <a:latin typeface="American Typewriter" panose="02090604020004020304" pitchFamily="18" charset="77"/>
              </a:rPr>
              <a:t>Universaly</a:t>
            </a:r>
            <a:r>
              <a:rPr lang="en-US" sz="1700" dirty="0">
                <a:solidFill>
                  <a:schemeClr val="bg1"/>
                </a:solidFill>
                <a:latin typeface="American Typewriter" panose="02090604020004020304" pitchFamily="18" charset="77"/>
              </a:rPr>
              <a:t> hated as he is. There is not a man in the Regt that likes him. He is hard on his men puts them on the Ring (</a:t>
            </a:r>
            <a:r>
              <a:rPr lang="en-US" sz="1700" dirty="0" err="1">
                <a:solidFill>
                  <a:schemeClr val="bg1"/>
                </a:solidFill>
                <a:latin typeface="American Typewriter" panose="02090604020004020304" pitchFamily="18" charset="77"/>
              </a:rPr>
              <a:t>ie</a:t>
            </a:r>
            <a:r>
              <a:rPr lang="en-US" sz="1700" dirty="0">
                <a:solidFill>
                  <a:schemeClr val="bg1"/>
                </a:solidFill>
                <a:latin typeface="American Typewriter" panose="02090604020004020304" pitchFamily="18" charset="77"/>
              </a:rPr>
              <a:t>) (a circle for them to walk round in with a guard in the middle with his Bayonet to make them travel) for every little thing they do. I dont want you to circulate this or let any one know from what Source you got it But it is a fact he Stands too much on his Dignity. Some of the </a:t>
            </a:r>
            <a:r>
              <a:rPr lang="en-US" sz="1700" dirty="0" err="1">
                <a:solidFill>
                  <a:schemeClr val="bg1"/>
                </a:solidFill>
                <a:latin typeface="American Typewriter" panose="02090604020004020304" pitchFamily="18" charset="77"/>
              </a:rPr>
              <a:t>Capts</a:t>
            </a:r>
            <a:r>
              <a:rPr lang="en-US" sz="1700" dirty="0">
                <a:solidFill>
                  <a:schemeClr val="bg1"/>
                </a:solidFill>
                <a:latin typeface="American Typewriter" panose="02090604020004020304" pitchFamily="18" charset="77"/>
              </a:rPr>
              <a:t> here (if they could) would take their companies away in a Short time. But this will do for the Col Business. </a:t>
            </a:r>
          </a:p>
          <a:p>
            <a:endParaRPr lang="en-US" sz="1700" dirty="0">
              <a:solidFill>
                <a:schemeClr val="bg1"/>
              </a:solidFill>
              <a:latin typeface="American Typewriter" panose="02090604020004020304" pitchFamily="18" charset="77"/>
            </a:endParaRPr>
          </a:p>
          <a:p>
            <a:r>
              <a:rPr lang="en-US" sz="1700" dirty="0">
                <a:solidFill>
                  <a:schemeClr val="bg1"/>
                </a:solidFill>
                <a:latin typeface="American Typewriter" panose="02090604020004020304" pitchFamily="18" charset="77"/>
              </a:rPr>
              <a:t>You Said if you could you would keep that money until I came home. Now you need not do any Such a thing. I Sent It Because I wanted you to have It to use for Such things as you need. So you will not Save It any on my acct. Uncle Orlando is writing a letter to Aunt Rebecca. We are going to get a Store tomorrow and then we can live as comfortable as you please. I thought Some of getting my Likeness taken large on paste Board and put in a frame and Send It home By Express. How would you like It? That way you could hang It up in the room or some place where you could see it any time. I have Seen Several taken on cards they are verry nice too. I will in my next letter Send you a likeness of Gen Jameson (our Brig Gen). It will be out next week. He is a fine looking man. I will also send you a likeness of Gen Heintzelman (Maj Gen) who commands our division. </a:t>
            </a:r>
          </a:p>
          <a:p>
            <a:endParaRPr lang="en-US" sz="1700" dirty="0">
              <a:solidFill>
                <a:schemeClr val="bg1"/>
              </a:solidFill>
              <a:latin typeface="American Typewriter" panose="02090604020004020304" pitchFamily="18" charset="77"/>
            </a:endParaRPr>
          </a:p>
          <a:p>
            <a:r>
              <a:rPr lang="en-US" sz="1700" dirty="0">
                <a:solidFill>
                  <a:schemeClr val="bg1"/>
                </a:solidFill>
                <a:latin typeface="American Typewriter" panose="02090604020004020304" pitchFamily="18" charset="77"/>
              </a:rPr>
              <a:t>But I must quit for it is getting late. Good By Dear Mother from your affectionate son. </a:t>
            </a:r>
          </a:p>
          <a:p>
            <a:r>
              <a:rPr lang="en-US" sz="1700">
                <a:solidFill>
                  <a:schemeClr val="bg1"/>
                </a:solidFill>
                <a:latin typeface="American Typewriter" panose="02090604020004020304" pitchFamily="18" charset="77"/>
              </a:rPr>
              <a:t>Tilton</a:t>
            </a:r>
          </a:p>
        </p:txBody>
      </p:sp>
      <p:pic>
        <p:nvPicPr>
          <p:cNvPr id="4" name="Picture 3">
            <a:extLst>
              <a:ext uri="{FF2B5EF4-FFF2-40B4-BE49-F238E27FC236}">
                <a16:creationId xmlns:a16="http://schemas.microsoft.com/office/drawing/2014/main" id="{CA2E43E3-FE55-B7E3-B799-FBC2796A46ED}"/>
              </a:ext>
            </a:extLst>
          </p:cNvPr>
          <p:cNvPicPr>
            <a:picLocks noChangeAspect="1"/>
          </p:cNvPicPr>
          <p:nvPr/>
        </p:nvPicPr>
        <p:blipFill>
          <a:blip r:embed="rId2"/>
          <a:stretch>
            <a:fillRect/>
          </a:stretch>
        </p:blipFill>
        <p:spPr>
          <a:xfrm>
            <a:off x="9266518" y="0"/>
            <a:ext cx="2871694" cy="2871694"/>
          </a:xfrm>
          <a:prstGeom prst="rect">
            <a:avLst/>
          </a:prstGeom>
        </p:spPr>
      </p:pic>
    </p:spTree>
    <p:extLst>
      <p:ext uri="{BB962C8B-B14F-4D97-AF65-F5344CB8AC3E}">
        <p14:creationId xmlns:p14="http://schemas.microsoft.com/office/powerpoint/2010/main" val="1642487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A1DFA359-E068-7BB3-2BF6-6098574500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1389AB-9F3F-64BF-9779-5AC19C2AFF99}"/>
              </a:ext>
            </a:extLst>
          </p:cNvPr>
          <p:cNvSpPr txBox="1"/>
          <p:nvPr/>
        </p:nvSpPr>
        <p:spPr>
          <a:xfrm>
            <a:off x="602876" y="197346"/>
            <a:ext cx="10986248" cy="6463308"/>
          </a:xfrm>
          <a:prstGeom prst="rect">
            <a:avLst/>
          </a:prstGeom>
          <a:noFill/>
        </p:spPr>
        <p:txBody>
          <a:bodyPr wrap="square" rtlCol="0">
            <a:spAutoFit/>
          </a:bodyPr>
          <a:lstStyle/>
          <a:p>
            <a:r>
              <a:rPr lang="en-US" b="1" dirty="0">
                <a:solidFill>
                  <a:schemeClr val="bg1"/>
                </a:solidFill>
                <a:latin typeface="American Typewriter" panose="02090604020004020304" pitchFamily="18" charset="77"/>
              </a:rPr>
              <a:t>Headquarters 105th </a:t>
            </a:r>
            <a:r>
              <a:rPr lang="en-US" b="1" dirty="0" err="1">
                <a:solidFill>
                  <a:schemeClr val="bg1"/>
                </a:solidFill>
                <a:latin typeface="American Typewriter" panose="02090604020004020304" pitchFamily="18" charset="77"/>
              </a:rPr>
              <a:t>Reg't</a:t>
            </a:r>
            <a:r>
              <a:rPr lang="en-US" b="1" dirty="0">
                <a:solidFill>
                  <a:schemeClr val="bg1"/>
                </a:solidFill>
                <a:latin typeface="American Typewriter" panose="02090604020004020304" pitchFamily="18" charset="77"/>
              </a:rPr>
              <a:t>. Co. H</a:t>
            </a:r>
            <a:br>
              <a:rPr lang="en-US" dirty="0">
                <a:solidFill>
                  <a:schemeClr val="bg1"/>
                </a:solidFill>
                <a:latin typeface="American Typewriter" panose="02090604020004020304" pitchFamily="18" charset="77"/>
              </a:rPr>
            </a:br>
            <a:r>
              <a:rPr lang="en-US" b="1" dirty="0">
                <a:solidFill>
                  <a:schemeClr val="bg1"/>
                </a:solidFill>
                <a:latin typeface="American Typewriter" panose="02090604020004020304" pitchFamily="18" charset="77"/>
              </a:rPr>
              <a:t>Camp Jameson Dec 1st 1861</a:t>
            </a:r>
            <a:endParaRPr lang="en-US" dirty="0">
              <a:solidFill>
                <a:schemeClr val="bg1"/>
              </a:solidFill>
              <a:latin typeface="American Typewriter" panose="02090604020004020304" pitchFamily="18" charset="77"/>
            </a:endParaRP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Dear Mother,</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I got your letter of the 26th and was glad to hear you are all well as this leaves me at present. You wanted to know about my Boots. The pair I brought from home are nearly done for the Soles have parted from the uppers on the right one and there is a poor Sight of them lasting out the month. There is no mending them here that is worth any thing. The Sutler has a fair article at $4.00 which is a verry great price But the Shoes the government gives out are miserable Stuff and a man might as well go Bare foot in this mud. Uncle Orlando Says I had Better pay the money once and be done with It than to Buy twice.</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I have $6.50 By me yet after paying Wm Hays what I owed him and Some little dribs Besides So I can manage It without asking you for any thing. Now I dont want you to Say any thing to Father about what I gave for them for he will think I have been foolish and there is no use in It.</a:t>
            </a:r>
          </a:p>
          <a:p>
            <a:r>
              <a:rPr lang="en-US" dirty="0">
                <a:solidFill>
                  <a:schemeClr val="bg1"/>
                </a:solidFill>
                <a:latin typeface="American Typewriter" panose="02090604020004020304" pitchFamily="18" charset="77"/>
              </a:rPr>
              <a:t>Some of the Boys Say they will go to Alexandria for their Boots But I think By the time they pay for the going they will Save nothing. But this will do for the Boot Business.</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Uncle Orlando is well and Sends his respects. I have not heard from Clarinda this week.</a:t>
            </a:r>
          </a:p>
          <a:p>
            <a:r>
              <a:rPr lang="en-US" dirty="0">
                <a:solidFill>
                  <a:schemeClr val="bg1"/>
                </a:solidFill>
                <a:latin typeface="American Typewriter" panose="02090604020004020304" pitchFamily="18" charset="77"/>
              </a:rPr>
              <a:t>But I must quit for it is getting late. Good By Dear Mother from your affectionate son.</a:t>
            </a:r>
          </a:p>
          <a:p>
            <a:endParaRPr lang="en-US" dirty="0">
              <a:solidFill>
                <a:schemeClr val="bg1"/>
              </a:solidFill>
              <a:latin typeface="American Typewriter" panose="02090604020004020304" pitchFamily="18" charset="77"/>
            </a:endParaRPr>
          </a:p>
          <a:p>
            <a:r>
              <a:rPr lang="en-US" dirty="0">
                <a:solidFill>
                  <a:schemeClr val="bg1"/>
                </a:solidFill>
                <a:latin typeface="American Typewriter" panose="02090604020004020304" pitchFamily="18" charset="77"/>
              </a:rPr>
              <a:t>Tilton</a:t>
            </a:r>
          </a:p>
        </p:txBody>
      </p:sp>
      <p:pic>
        <p:nvPicPr>
          <p:cNvPr id="4" name="Picture 3">
            <a:extLst>
              <a:ext uri="{FF2B5EF4-FFF2-40B4-BE49-F238E27FC236}">
                <a16:creationId xmlns:a16="http://schemas.microsoft.com/office/drawing/2014/main" id="{D16DF2C4-F063-8C58-AE17-9AA29C570CA6}"/>
              </a:ext>
            </a:extLst>
          </p:cNvPr>
          <p:cNvPicPr>
            <a:picLocks noChangeAspect="1"/>
          </p:cNvPicPr>
          <p:nvPr/>
        </p:nvPicPr>
        <p:blipFill>
          <a:blip r:embed="rId2"/>
          <a:stretch>
            <a:fillRect/>
          </a:stretch>
        </p:blipFill>
        <p:spPr>
          <a:xfrm rot="20675714">
            <a:off x="8397492" y="308910"/>
            <a:ext cx="3322365" cy="2071221"/>
          </a:xfrm>
          <a:prstGeom prst="rect">
            <a:avLst/>
          </a:prstGeom>
        </p:spPr>
      </p:pic>
    </p:spTree>
    <p:extLst>
      <p:ext uri="{BB962C8B-B14F-4D97-AF65-F5344CB8AC3E}">
        <p14:creationId xmlns:p14="http://schemas.microsoft.com/office/powerpoint/2010/main" val="67713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B5131DC0-C786-8884-EAD6-5DAA5F2EC6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3A5674-2ABF-80C9-29C7-71FA975A0849}"/>
              </a:ext>
            </a:extLst>
          </p:cNvPr>
          <p:cNvSpPr txBox="1"/>
          <p:nvPr/>
        </p:nvSpPr>
        <p:spPr>
          <a:xfrm>
            <a:off x="737347" y="366623"/>
            <a:ext cx="10717306" cy="6124754"/>
          </a:xfrm>
          <a:prstGeom prst="rect">
            <a:avLst/>
          </a:prstGeom>
          <a:noFill/>
        </p:spPr>
        <p:txBody>
          <a:bodyPr wrap="square" rtlCol="0">
            <a:spAutoFit/>
          </a:bodyPr>
          <a:lstStyle/>
          <a:p>
            <a:r>
              <a:rPr lang="en-US" sz="2800">
                <a:solidFill>
                  <a:schemeClr val="bg1"/>
                </a:solidFill>
                <a:latin typeface="American Typewriter" panose="02090604020004020304" pitchFamily="18" charset="77"/>
              </a:rPr>
              <a:t>There is a quiet hush that falls,</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When evening shades draw near,</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 stillness in the air that calls,</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To those who pause to hear.</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The world around us fades away,</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As darkness takes its hold,</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And in this moment, we may pray,</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Or simply sit and fold.</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For in this hush, we may find peace,</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And let our worries go,</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And in the silence, we release,</a:t>
            </a:r>
            <a:br>
              <a:rPr lang="en-US" sz="2800">
                <a:solidFill>
                  <a:schemeClr val="bg1"/>
                </a:solidFill>
                <a:latin typeface="American Typewriter" panose="02090604020004020304" pitchFamily="18" charset="77"/>
              </a:rPr>
            </a:br>
            <a:r>
              <a:rPr lang="en-US" sz="2800">
                <a:solidFill>
                  <a:schemeClr val="bg1"/>
                </a:solidFill>
                <a:latin typeface="American Typewriter" panose="02090604020004020304" pitchFamily="18" charset="77"/>
              </a:rPr>
              <a:t> All that we cannot know.</a:t>
            </a:r>
            <a:r>
              <a:rPr lang="en-US" sz="2800">
                <a:solidFill>
                  <a:schemeClr val="bg1"/>
                </a:solidFill>
                <a:effectLst/>
                <a:latin typeface="American Typewriter" panose="02090604020004020304" pitchFamily="18" charset="77"/>
              </a:rPr>
              <a:t> </a:t>
            </a:r>
            <a:endParaRPr lang="en-US" sz="2800" dirty="0">
              <a:solidFill>
                <a:schemeClr val="bg1"/>
              </a:solidFill>
              <a:latin typeface="American Typewriter" panose="02090604020004020304" pitchFamily="18" charset="77"/>
            </a:endParaRPr>
          </a:p>
        </p:txBody>
      </p:sp>
      <p:pic>
        <p:nvPicPr>
          <p:cNvPr id="4" name="Picture 3">
            <a:extLst>
              <a:ext uri="{FF2B5EF4-FFF2-40B4-BE49-F238E27FC236}">
                <a16:creationId xmlns:a16="http://schemas.microsoft.com/office/drawing/2014/main" id="{6DF3C306-E9AA-1805-A2C9-F864BA3E9BF3}"/>
              </a:ext>
            </a:extLst>
          </p:cNvPr>
          <p:cNvPicPr>
            <a:picLocks noChangeAspect="1"/>
          </p:cNvPicPr>
          <p:nvPr/>
        </p:nvPicPr>
        <p:blipFill>
          <a:blip r:embed="rId2"/>
          <a:stretch>
            <a:fillRect/>
          </a:stretch>
        </p:blipFill>
        <p:spPr>
          <a:xfrm rot="20909452">
            <a:off x="8377518" y="524062"/>
            <a:ext cx="3409576" cy="2125590"/>
          </a:xfrm>
          <a:prstGeom prst="rect">
            <a:avLst/>
          </a:prstGeom>
        </p:spPr>
      </p:pic>
    </p:spTree>
    <p:extLst>
      <p:ext uri="{BB962C8B-B14F-4D97-AF65-F5344CB8AC3E}">
        <p14:creationId xmlns:p14="http://schemas.microsoft.com/office/powerpoint/2010/main" val="50671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0CE50CA6-8739-5400-25C1-DE2DD9420D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CE60A5-9514-5DB1-16A1-B1F9E29A1C75}"/>
              </a:ext>
            </a:extLst>
          </p:cNvPr>
          <p:cNvSpPr txBox="1"/>
          <p:nvPr/>
        </p:nvSpPr>
        <p:spPr>
          <a:xfrm>
            <a:off x="737347" y="2028616"/>
            <a:ext cx="10717306" cy="2800767"/>
          </a:xfrm>
          <a:prstGeom prst="rect">
            <a:avLst/>
          </a:prstGeom>
          <a:noFill/>
        </p:spPr>
        <p:txBody>
          <a:bodyPr wrap="square" rtlCol="0">
            <a:spAutoFit/>
          </a:bodyPr>
          <a:lstStyle/>
          <a:p>
            <a:r>
              <a:rPr lang="en-US" sz="4400" dirty="0">
                <a:solidFill>
                  <a:schemeClr val="bg1"/>
                </a:solidFill>
                <a:latin typeface="American Typewriter" panose="02090604020004020304" pitchFamily="18" charset="77"/>
              </a:rPr>
              <a:t>Not knowing when the Dawn will come,</a:t>
            </a:r>
          </a:p>
          <a:p>
            <a:r>
              <a:rPr lang="en-US" sz="4400" dirty="0">
                <a:solidFill>
                  <a:schemeClr val="bg1"/>
                </a:solidFill>
                <a:latin typeface="American Typewriter" panose="02090604020004020304" pitchFamily="18" charset="77"/>
              </a:rPr>
              <a:t>I open every Door,</a:t>
            </a:r>
          </a:p>
          <a:p>
            <a:r>
              <a:rPr lang="en-US" sz="4400" dirty="0">
                <a:solidFill>
                  <a:schemeClr val="bg1"/>
                </a:solidFill>
                <a:latin typeface="American Typewriter" panose="02090604020004020304" pitchFamily="18" charset="77"/>
              </a:rPr>
              <a:t>Or has it Feathers, like a Bird,</a:t>
            </a:r>
          </a:p>
          <a:p>
            <a:r>
              <a:rPr lang="en-US" sz="4400" dirty="0">
                <a:solidFill>
                  <a:schemeClr val="bg1"/>
                </a:solidFill>
                <a:latin typeface="American Typewriter" panose="02090604020004020304" pitchFamily="18" charset="77"/>
              </a:rPr>
              <a:t>Or Billows, like a Shore —</a:t>
            </a:r>
          </a:p>
        </p:txBody>
      </p:sp>
      <p:pic>
        <p:nvPicPr>
          <p:cNvPr id="4" name="Picture 3">
            <a:extLst>
              <a:ext uri="{FF2B5EF4-FFF2-40B4-BE49-F238E27FC236}">
                <a16:creationId xmlns:a16="http://schemas.microsoft.com/office/drawing/2014/main" id="{683D73C2-7B00-FDFD-B51E-FEBF5CE3EB93}"/>
              </a:ext>
            </a:extLst>
          </p:cNvPr>
          <p:cNvPicPr>
            <a:picLocks noChangeAspect="1"/>
          </p:cNvPicPr>
          <p:nvPr/>
        </p:nvPicPr>
        <p:blipFill>
          <a:blip r:embed="rId2"/>
          <a:stretch>
            <a:fillRect/>
          </a:stretch>
        </p:blipFill>
        <p:spPr>
          <a:xfrm>
            <a:off x="9278470" y="0"/>
            <a:ext cx="2913529" cy="2913529"/>
          </a:xfrm>
          <a:prstGeom prst="rect">
            <a:avLst/>
          </a:prstGeom>
        </p:spPr>
      </p:pic>
    </p:spTree>
    <p:extLst>
      <p:ext uri="{BB962C8B-B14F-4D97-AF65-F5344CB8AC3E}">
        <p14:creationId xmlns:p14="http://schemas.microsoft.com/office/powerpoint/2010/main" val="389415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14396737-A153-F44F-F1FE-ECF1C01066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59AD8B-3D45-0DC5-8C95-3FD8F77B784B}"/>
              </a:ext>
            </a:extLst>
          </p:cNvPr>
          <p:cNvSpPr txBox="1"/>
          <p:nvPr/>
        </p:nvSpPr>
        <p:spPr>
          <a:xfrm>
            <a:off x="914400" y="914399"/>
            <a:ext cx="10717306" cy="4524315"/>
          </a:xfrm>
          <a:prstGeom prst="rect">
            <a:avLst/>
          </a:prstGeom>
          <a:noFill/>
        </p:spPr>
        <p:txBody>
          <a:bodyPr wrap="square" rtlCol="0">
            <a:spAutoFit/>
          </a:bodyPr>
          <a:lstStyle/>
          <a:p>
            <a:r>
              <a:rPr lang="en-US" sz="3200" dirty="0">
                <a:solidFill>
                  <a:schemeClr val="bg1"/>
                </a:solidFill>
                <a:latin typeface="American Typewriter" panose="02090604020004020304" pitchFamily="18" charset="77"/>
              </a:rPr>
              <a:t>I speak of love that comes to mind:</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The moon is faithful, although blind;</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She moves in thought she cannot speak.</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Perfect care has made her bleak.</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I never dreamed the sea so deep,</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The earth so dark; so long my sleep,</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I have become another child.</a:t>
            </a:r>
            <a:br>
              <a:rPr lang="en-US" sz="3200" dirty="0">
                <a:solidFill>
                  <a:schemeClr val="bg1"/>
                </a:solidFill>
                <a:latin typeface="American Typewriter" panose="02090604020004020304" pitchFamily="18" charset="77"/>
              </a:rPr>
            </a:br>
            <a:r>
              <a:rPr lang="en-US" sz="3200" dirty="0">
                <a:solidFill>
                  <a:schemeClr val="bg1"/>
                </a:solidFill>
                <a:latin typeface="American Typewriter" panose="02090604020004020304" pitchFamily="18" charset="77"/>
              </a:rPr>
              <a:t> I wake to see the world go wild.</a:t>
            </a:r>
            <a:r>
              <a:rPr lang="en-US" sz="3200" dirty="0">
                <a:solidFill>
                  <a:schemeClr val="bg1"/>
                </a:solidFill>
                <a:effectLst/>
                <a:latin typeface="American Typewriter" panose="02090604020004020304" pitchFamily="18" charset="77"/>
              </a:rPr>
              <a:t> </a:t>
            </a:r>
            <a:endParaRPr lang="en-US" sz="3200" dirty="0">
              <a:solidFill>
                <a:schemeClr val="bg1"/>
              </a:solidFill>
              <a:latin typeface="American Typewriter" panose="02090604020004020304" pitchFamily="18" charset="77"/>
            </a:endParaRPr>
          </a:p>
        </p:txBody>
      </p:sp>
      <p:pic>
        <p:nvPicPr>
          <p:cNvPr id="4" name="Picture 3">
            <a:extLst>
              <a:ext uri="{FF2B5EF4-FFF2-40B4-BE49-F238E27FC236}">
                <a16:creationId xmlns:a16="http://schemas.microsoft.com/office/drawing/2014/main" id="{BC053084-FE70-F17F-2A2E-C28B2C5C6989}"/>
              </a:ext>
            </a:extLst>
          </p:cNvPr>
          <p:cNvPicPr>
            <a:picLocks noChangeAspect="1"/>
          </p:cNvPicPr>
          <p:nvPr/>
        </p:nvPicPr>
        <p:blipFill>
          <a:blip r:embed="rId2"/>
          <a:stretch>
            <a:fillRect/>
          </a:stretch>
        </p:blipFill>
        <p:spPr>
          <a:xfrm>
            <a:off x="9333753" y="13446"/>
            <a:ext cx="2858247" cy="2858247"/>
          </a:xfrm>
          <a:prstGeom prst="rect">
            <a:avLst/>
          </a:prstGeom>
        </p:spPr>
      </p:pic>
    </p:spTree>
    <p:extLst>
      <p:ext uri="{BB962C8B-B14F-4D97-AF65-F5344CB8AC3E}">
        <p14:creationId xmlns:p14="http://schemas.microsoft.com/office/powerpoint/2010/main" val="3237071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79F16979-9AE3-1839-C3CD-E56EFFE145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975E97-B67F-1AE2-DDCB-C1A8A1C39261}"/>
              </a:ext>
            </a:extLst>
          </p:cNvPr>
          <p:cNvSpPr txBox="1"/>
          <p:nvPr/>
        </p:nvSpPr>
        <p:spPr>
          <a:xfrm>
            <a:off x="564777" y="1767006"/>
            <a:ext cx="11403105" cy="3323987"/>
          </a:xfrm>
          <a:prstGeom prst="rect">
            <a:avLst/>
          </a:prstGeom>
          <a:noFill/>
        </p:spPr>
        <p:txBody>
          <a:bodyPr wrap="square" rtlCol="0">
            <a:spAutoFit/>
          </a:bodyPr>
          <a:lstStyle/>
          <a:p>
            <a:r>
              <a:rPr lang="en-US" sz="3000" dirty="0">
                <a:solidFill>
                  <a:schemeClr val="bg1"/>
                </a:solidFill>
                <a:latin typeface="American Typewriter" panose="02090604020004020304" pitchFamily="18" charset="77"/>
              </a:rPr>
              <a:t>Pigeons shake their wings on the copper church roof</a:t>
            </a:r>
            <a:br>
              <a:rPr lang="en-US" sz="3000" dirty="0">
                <a:solidFill>
                  <a:schemeClr val="bg1"/>
                </a:solidFill>
                <a:latin typeface="American Typewriter" panose="02090604020004020304" pitchFamily="18" charset="77"/>
              </a:rPr>
            </a:br>
            <a:r>
              <a:rPr lang="en-US" sz="3000" dirty="0">
                <a:solidFill>
                  <a:schemeClr val="bg1"/>
                </a:solidFill>
                <a:latin typeface="American Typewriter" panose="02090604020004020304" pitchFamily="18" charset="77"/>
              </a:rPr>
              <a:t> out my window across the street, a bird perched on the cross</a:t>
            </a:r>
            <a:br>
              <a:rPr lang="en-US" sz="3000" dirty="0">
                <a:solidFill>
                  <a:schemeClr val="bg1"/>
                </a:solidFill>
                <a:latin typeface="American Typewriter" panose="02090604020004020304" pitchFamily="18" charset="77"/>
              </a:rPr>
            </a:br>
            <a:r>
              <a:rPr lang="en-US" sz="3000" dirty="0">
                <a:solidFill>
                  <a:schemeClr val="bg1"/>
                </a:solidFill>
                <a:latin typeface="American Typewriter" panose="02090604020004020304" pitchFamily="18" charset="77"/>
              </a:rPr>
              <a:t> surveys the city's blue-grey clouds. Larry Rivers</a:t>
            </a:r>
            <a:br>
              <a:rPr lang="en-US" sz="3000" dirty="0">
                <a:solidFill>
                  <a:schemeClr val="bg1"/>
                </a:solidFill>
                <a:latin typeface="American Typewriter" panose="02090604020004020304" pitchFamily="18" charset="77"/>
              </a:rPr>
            </a:br>
            <a:r>
              <a:rPr lang="en-US" sz="3000" dirty="0">
                <a:solidFill>
                  <a:schemeClr val="bg1"/>
                </a:solidFill>
                <a:latin typeface="American Typewriter" panose="02090604020004020304" pitchFamily="18" charset="77"/>
              </a:rPr>
              <a:t> 'll come at 10 AM and take my picture. I'm taking</a:t>
            </a:r>
            <a:br>
              <a:rPr lang="en-US" sz="3000" dirty="0">
                <a:solidFill>
                  <a:schemeClr val="bg1"/>
                </a:solidFill>
                <a:latin typeface="American Typewriter" panose="02090604020004020304" pitchFamily="18" charset="77"/>
              </a:rPr>
            </a:br>
            <a:r>
              <a:rPr lang="en-US" sz="3000" dirty="0">
                <a:solidFill>
                  <a:schemeClr val="bg1"/>
                </a:solidFill>
                <a:latin typeface="American Typewriter" panose="02090604020004020304" pitchFamily="18" charset="77"/>
              </a:rPr>
              <a:t> your picture, pigeons. I'm writing you down, Dawn.</a:t>
            </a:r>
            <a:br>
              <a:rPr lang="en-US" sz="3000" dirty="0">
                <a:solidFill>
                  <a:schemeClr val="bg1"/>
                </a:solidFill>
                <a:latin typeface="American Typewriter" panose="02090604020004020304" pitchFamily="18" charset="77"/>
              </a:rPr>
            </a:br>
            <a:r>
              <a:rPr lang="en-US" sz="3000" dirty="0">
                <a:solidFill>
                  <a:schemeClr val="bg1"/>
                </a:solidFill>
                <a:latin typeface="American Typewriter" panose="02090604020004020304" pitchFamily="18" charset="77"/>
              </a:rPr>
              <a:t> I'm immortalizing your exhaust, Avenue A bus.</a:t>
            </a:r>
            <a:br>
              <a:rPr lang="en-US" sz="3000" dirty="0">
                <a:solidFill>
                  <a:schemeClr val="bg1"/>
                </a:solidFill>
                <a:latin typeface="American Typewriter" panose="02090604020004020304" pitchFamily="18" charset="77"/>
              </a:rPr>
            </a:br>
            <a:r>
              <a:rPr lang="en-US" sz="3000" dirty="0">
                <a:solidFill>
                  <a:schemeClr val="bg1"/>
                </a:solidFill>
                <a:latin typeface="American Typewriter" panose="02090604020004020304" pitchFamily="18" charset="77"/>
              </a:rPr>
              <a:t> O Thought, now you'll have to think the same thing forever!</a:t>
            </a:r>
            <a:r>
              <a:rPr lang="en-US" sz="3000" dirty="0">
                <a:solidFill>
                  <a:schemeClr val="bg1"/>
                </a:solidFill>
                <a:effectLst/>
                <a:latin typeface="American Typewriter" panose="02090604020004020304" pitchFamily="18" charset="77"/>
              </a:rPr>
              <a:t> </a:t>
            </a:r>
            <a:endParaRPr lang="en-US" sz="3000" dirty="0">
              <a:solidFill>
                <a:schemeClr val="bg1"/>
              </a:solidFill>
              <a:latin typeface="American Typewriter" panose="02090604020004020304" pitchFamily="18" charset="77"/>
            </a:endParaRPr>
          </a:p>
        </p:txBody>
      </p:sp>
      <p:pic>
        <p:nvPicPr>
          <p:cNvPr id="4" name="Picture 3">
            <a:extLst>
              <a:ext uri="{FF2B5EF4-FFF2-40B4-BE49-F238E27FC236}">
                <a16:creationId xmlns:a16="http://schemas.microsoft.com/office/drawing/2014/main" id="{B9E64250-C0AC-44E2-CC27-8A0F7518D7FB}"/>
              </a:ext>
            </a:extLst>
          </p:cNvPr>
          <p:cNvPicPr>
            <a:picLocks noChangeAspect="1"/>
          </p:cNvPicPr>
          <p:nvPr/>
        </p:nvPicPr>
        <p:blipFill>
          <a:blip r:embed="rId2"/>
          <a:stretch>
            <a:fillRect/>
          </a:stretch>
        </p:blipFill>
        <p:spPr>
          <a:xfrm rot="21002917">
            <a:off x="8996082" y="0"/>
            <a:ext cx="3195918" cy="1992392"/>
          </a:xfrm>
          <a:prstGeom prst="rect">
            <a:avLst/>
          </a:prstGeom>
        </p:spPr>
      </p:pic>
    </p:spTree>
    <p:extLst>
      <p:ext uri="{BB962C8B-B14F-4D97-AF65-F5344CB8AC3E}">
        <p14:creationId xmlns:p14="http://schemas.microsoft.com/office/powerpoint/2010/main" val="336759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7C18CDA-5C26-FD4F-45C2-66E81BA32D5E}"/>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7D781C2A-838D-7E40-1D6A-F092B38C8FBB}"/>
              </a:ext>
            </a:extLst>
          </p:cNvPr>
          <p:cNvSpPr txBox="1"/>
          <p:nvPr/>
        </p:nvSpPr>
        <p:spPr>
          <a:xfrm>
            <a:off x="3734920" y="2907575"/>
            <a:ext cx="4722160" cy="1042850"/>
          </a:xfrm>
          <a:prstGeom prst="rect">
            <a:avLst/>
          </a:prstGeom>
          <a:noFill/>
        </p:spPr>
        <p:txBody>
          <a:bodyPr wrap="square" rtlCol="0">
            <a:spAutoFit/>
          </a:bodyPr>
          <a:lstStyle/>
          <a:p>
            <a:pPr algn="ctr">
              <a:lnSpc>
                <a:spcPts val="6400"/>
              </a:lnSpc>
            </a:pPr>
            <a:r>
              <a:rPr lang="en-US" sz="9600" b="1" dirty="0">
                <a:solidFill>
                  <a:schemeClr val="bg1"/>
                </a:solidFill>
                <a:latin typeface="American Typewriter" panose="02090604020004020304" pitchFamily="18" charset="77"/>
              </a:rPr>
              <a:t>Images</a:t>
            </a:r>
          </a:p>
        </p:txBody>
      </p:sp>
    </p:spTree>
    <p:extLst>
      <p:ext uri="{BB962C8B-B14F-4D97-AF65-F5344CB8AC3E}">
        <p14:creationId xmlns:p14="http://schemas.microsoft.com/office/powerpoint/2010/main" val="2199136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84FF4517-8165-2C51-2A90-788B551D80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D3EC25-1427-10B4-FB49-C23053E77CDE}"/>
              </a:ext>
            </a:extLst>
          </p:cNvPr>
          <p:cNvSpPr txBox="1"/>
          <p:nvPr/>
        </p:nvSpPr>
        <p:spPr>
          <a:xfrm>
            <a:off x="309282" y="228600"/>
            <a:ext cx="8982636" cy="830997"/>
          </a:xfrm>
          <a:prstGeom prst="rect">
            <a:avLst/>
          </a:prstGeom>
          <a:noFill/>
        </p:spPr>
        <p:txBody>
          <a:bodyPr wrap="square" rtlCol="0">
            <a:spAutoFit/>
          </a:bodyPr>
          <a:lstStyle/>
          <a:p>
            <a:r>
              <a:rPr lang="en-US" sz="4800" b="1">
                <a:solidFill>
                  <a:schemeClr val="bg1"/>
                </a:solidFill>
                <a:latin typeface="American Typewriter" panose="02090604020004020304" pitchFamily="18" charset="77"/>
              </a:rPr>
              <a:t>Images: Diffusion Models</a:t>
            </a:r>
          </a:p>
        </p:txBody>
      </p:sp>
      <p:sp>
        <p:nvSpPr>
          <p:cNvPr id="3" name="TextBox 2">
            <a:extLst>
              <a:ext uri="{FF2B5EF4-FFF2-40B4-BE49-F238E27FC236}">
                <a16:creationId xmlns:a16="http://schemas.microsoft.com/office/drawing/2014/main" id="{A110B425-81DE-864A-BC2E-0FD3EDC8AC78}"/>
              </a:ext>
            </a:extLst>
          </p:cNvPr>
          <p:cNvSpPr txBox="1"/>
          <p:nvPr/>
        </p:nvSpPr>
        <p:spPr>
          <a:xfrm>
            <a:off x="468406" y="5983069"/>
            <a:ext cx="11255188" cy="646331"/>
          </a:xfrm>
          <a:prstGeom prst="rect">
            <a:avLst/>
          </a:prstGeom>
          <a:noFill/>
        </p:spPr>
        <p:txBody>
          <a:bodyPr wrap="square" rtlCol="0">
            <a:spAutoFit/>
          </a:bodyPr>
          <a:lstStyle/>
          <a:p>
            <a:r>
              <a:rPr lang="en-US" sz="3600" b="1">
                <a:solidFill>
                  <a:schemeClr val="bg1"/>
                </a:solidFill>
                <a:latin typeface="American Typewriter" panose="02090604020004020304" pitchFamily="18" charset="77"/>
                <a:hlinkClick r:id="rId2">
                  <a:extLst>
                    <a:ext uri="{A12FA001-AC4F-418D-AE19-62706E023703}">
                      <ahyp:hlinkClr xmlns:ahyp="http://schemas.microsoft.com/office/drawing/2018/hyperlinkcolor" val="tx"/>
                    </a:ext>
                  </a:extLst>
                </a:hlinkClick>
              </a:rPr>
              <a:t>https://poloclub.github.io/diffusion-explainer/</a:t>
            </a:r>
            <a:endParaRPr lang="en-US" sz="3600" b="1">
              <a:solidFill>
                <a:schemeClr val="bg1"/>
              </a:solidFill>
              <a:latin typeface="American Typewriter" panose="02090604020004020304" pitchFamily="18" charset="77"/>
            </a:endParaRPr>
          </a:p>
        </p:txBody>
      </p:sp>
      <p:pic>
        <p:nvPicPr>
          <p:cNvPr id="5" name="Picture 4">
            <a:extLst>
              <a:ext uri="{FF2B5EF4-FFF2-40B4-BE49-F238E27FC236}">
                <a16:creationId xmlns:a16="http://schemas.microsoft.com/office/drawing/2014/main" id="{49BB22B7-2E03-BD8C-8093-60C5DCB27540}"/>
              </a:ext>
            </a:extLst>
          </p:cNvPr>
          <p:cNvPicPr>
            <a:picLocks noChangeAspect="1"/>
          </p:cNvPicPr>
          <p:nvPr/>
        </p:nvPicPr>
        <p:blipFill>
          <a:blip r:embed="rId3"/>
          <a:stretch>
            <a:fillRect/>
          </a:stretch>
        </p:blipFill>
        <p:spPr>
          <a:xfrm>
            <a:off x="1959625" y="1200384"/>
            <a:ext cx="8272750" cy="4641897"/>
          </a:xfrm>
          <a:prstGeom prst="rect">
            <a:avLst/>
          </a:prstGeom>
        </p:spPr>
      </p:pic>
    </p:spTree>
    <p:extLst>
      <p:ext uri="{BB962C8B-B14F-4D97-AF65-F5344CB8AC3E}">
        <p14:creationId xmlns:p14="http://schemas.microsoft.com/office/powerpoint/2010/main" val="17272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A8BE09F6-16DB-E469-C4D8-07E9705BF65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F251578-2F20-43AB-E169-EED8EC14C70E}"/>
              </a:ext>
            </a:extLst>
          </p:cNvPr>
          <p:cNvPicPr>
            <a:picLocks noChangeAspect="1"/>
          </p:cNvPicPr>
          <p:nvPr/>
        </p:nvPicPr>
        <p:blipFill>
          <a:blip r:embed="rId2"/>
          <a:stretch>
            <a:fillRect/>
          </a:stretch>
        </p:blipFill>
        <p:spPr>
          <a:xfrm>
            <a:off x="1129554" y="1141506"/>
            <a:ext cx="4574988" cy="4574988"/>
          </a:xfrm>
          <a:prstGeom prst="rect">
            <a:avLst/>
          </a:prstGeom>
        </p:spPr>
      </p:pic>
      <p:pic>
        <p:nvPicPr>
          <p:cNvPr id="5" name="Picture 4">
            <a:extLst>
              <a:ext uri="{FF2B5EF4-FFF2-40B4-BE49-F238E27FC236}">
                <a16:creationId xmlns:a16="http://schemas.microsoft.com/office/drawing/2014/main" id="{923D1CC8-F044-EFFC-3420-23300C2DD3BA}"/>
              </a:ext>
            </a:extLst>
          </p:cNvPr>
          <p:cNvPicPr>
            <a:picLocks noChangeAspect="1"/>
          </p:cNvPicPr>
          <p:nvPr/>
        </p:nvPicPr>
        <p:blipFill>
          <a:blip r:embed="rId3"/>
          <a:stretch>
            <a:fillRect/>
          </a:stretch>
        </p:blipFill>
        <p:spPr>
          <a:xfrm>
            <a:off x="6503856" y="1141506"/>
            <a:ext cx="4558590" cy="4574988"/>
          </a:xfrm>
          <a:prstGeom prst="rect">
            <a:avLst/>
          </a:prstGeom>
        </p:spPr>
      </p:pic>
    </p:spTree>
    <p:extLst>
      <p:ext uri="{BB962C8B-B14F-4D97-AF65-F5344CB8AC3E}">
        <p14:creationId xmlns:p14="http://schemas.microsoft.com/office/powerpoint/2010/main" val="1319994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1066D404-0613-54BF-F53E-C122E7340DE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2E101B-BAB8-7858-F816-A67A90B49039}"/>
              </a:ext>
            </a:extLst>
          </p:cNvPr>
          <p:cNvPicPr>
            <a:picLocks noChangeAspect="1"/>
          </p:cNvPicPr>
          <p:nvPr/>
        </p:nvPicPr>
        <p:blipFill>
          <a:blip r:embed="rId2"/>
          <a:stretch>
            <a:fillRect/>
          </a:stretch>
        </p:blipFill>
        <p:spPr>
          <a:xfrm>
            <a:off x="6394823" y="877794"/>
            <a:ext cx="5102412" cy="5102412"/>
          </a:xfrm>
          <a:prstGeom prst="rect">
            <a:avLst/>
          </a:prstGeom>
        </p:spPr>
      </p:pic>
      <p:pic>
        <p:nvPicPr>
          <p:cNvPr id="6" name="Picture 5">
            <a:extLst>
              <a:ext uri="{FF2B5EF4-FFF2-40B4-BE49-F238E27FC236}">
                <a16:creationId xmlns:a16="http://schemas.microsoft.com/office/drawing/2014/main" id="{25EDEEDB-52B1-D6B5-2FD6-7FDADB7BAA5C}"/>
              </a:ext>
            </a:extLst>
          </p:cNvPr>
          <p:cNvPicPr>
            <a:picLocks noChangeAspect="1"/>
          </p:cNvPicPr>
          <p:nvPr/>
        </p:nvPicPr>
        <p:blipFill>
          <a:blip r:embed="rId3"/>
          <a:stretch>
            <a:fillRect/>
          </a:stretch>
        </p:blipFill>
        <p:spPr>
          <a:xfrm>
            <a:off x="694766" y="877794"/>
            <a:ext cx="5102412" cy="5102412"/>
          </a:xfrm>
          <a:prstGeom prst="rect">
            <a:avLst/>
          </a:prstGeom>
        </p:spPr>
      </p:pic>
      <p:pic>
        <p:nvPicPr>
          <p:cNvPr id="3" name="Picture 2">
            <a:extLst>
              <a:ext uri="{FF2B5EF4-FFF2-40B4-BE49-F238E27FC236}">
                <a16:creationId xmlns:a16="http://schemas.microsoft.com/office/drawing/2014/main" id="{50CF226C-47D0-6D25-B540-D308FCFBA8FD}"/>
              </a:ext>
            </a:extLst>
          </p:cNvPr>
          <p:cNvPicPr>
            <a:picLocks noChangeAspect="1"/>
          </p:cNvPicPr>
          <p:nvPr/>
        </p:nvPicPr>
        <p:blipFill>
          <a:blip r:embed="rId4"/>
          <a:stretch>
            <a:fillRect/>
          </a:stretch>
        </p:blipFill>
        <p:spPr>
          <a:xfrm>
            <a:off x="9320306" y="0"/>
            <a:ext cx="2871694" cy="2871694"/>
          </a:xfrm>
          <a:prstGeom prst="rect">
            <a:avLst/>
          </a:prstGeom>
        </p:spPr>
      </p:pic>
    </p:spTree>
    <p:extLst>
      <p:ext uri="{BB962C8B-B14F-4D97-AF65-F5344CB8AC3E}">
        <p14:creationId xmlns:p14="http://schemas.microsoft.com/office/powerpoint/2010/main" val="92562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CC9C4B2F-3BAB-03FE-DD8F-603742D71B1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68956AC-97CB-FF67-33BF-BED185C6FF5C}"/>
              </a:ext>
            </a:extLst>
          </p:cNvPr>
          <p:cNvPicPr>
            <a:picLocks noChangeAspect="1"/>
          </p:cNvPicPr>
          <p:nvPr/>
        </p:nvPicPr>
        <p:blipFill>
          <a:blip r:embed="rId2"/>
          <a:stretch>
            <a:fillRect/>
          </a:stretch>
        </p:blipFill>
        <p:spPr>
          <a:xfrm>
            <a:off x="706717" y="882276"/>
            <a:ext cx="5093447" cy="5093447"/>
          </a:xfrm>
          <a:prstGeom prst="rect">
            <a:avLst/>
          </a:prstGeom>
        </p:spPr>
      </p:pic>
      <p:pic>
        <p:nvPicPr>
          <p:cNvPr id="10" name="Picture 9">
            <a:extLst>
              <a:ext uri="{FF2B5EF4-FFF2-40B4-BE49-F238E27FC236}">
                <a16:creationId xmlns:a16="http://schemas.microsoft.com/office/drawing/2014/main" id="{FDBC3DCC-26FC-91BB-5444-D51CC59C8E64}"/>
              </a:ext>
            </a:extLst>
          </p:cNvPr>
          <p:cNvPicPr>
            <a:picLocks noChangeAspect="1"/>
          </p:cNvPicPr>
          <p:nvPr/>
        </p:nvPicPr>
        <p:blipFill>
          <a:blip r:embed="rId3"/>
          <a:stretch>
            <a:fillRect/>
          </a:stretch>
        </p:blipFill>
        <p:spPr>
          <a:xfrm>
            <a:off x="6391838" y="882276"/>
            <a:ext cx="5093447" cy="5093447"/>
          </a:xfrm>
          <a:prstGeom prst="rect">
            <a:avLst/>
          </a:prstGeom>
        </p:spPr>
      </p:pic>
      <p:pic>
        <p:nvPicPr>
          <p:cNvPr id="3" name="Picture 2">
            <a:extLst>
              <a:ext uri="{FF2B5EF4-FFF2-40B4-BE49-F238E27FC236}">
                <a16:creationId xmlns:a16="http://schemas.microsoft.com/office/drawing/2014/main" id="{6D969F31-A57D-18DA-5546-CDABEAC3D74C}"/>
              </a:ext>
            </a:extLst>
          </p:cNvPr>
          <p:cNvPicPr>
            <a:picLocks noChangeAspect="1"/>
          </p:cNvPicPr>
          <p:nvPr/>
        </p:nvPicPr>
        <p:blipFill>
          <a:blip r:embed="rId4"/>
          <a:stretch>
            <a:fillRect/>
          </a:stretch>
        </p:blipFill>
        <p:spPr>
          <a:xfrm>
            <a:off x="3420036" y="0"/>
            <a:ext cx="2871694" cy="2871694"/>
          </a:xfrm>
          <a:prstGeom prst="rect">
            <a:avLst/>
          </a:prstGeom>
        </p:spPr>
      </p:pic>
    </p:spTree>
    <p:extLst>
      <p:ext uri="{BB962C8B-B14F-4D97-AF65-F5344CB8AC3E}">
        <p14:creationId xmlns:p14="http://schemas.microsoft.com/office/powerpoint/2010/main" val="1529978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11E3D0A2-056B-F69D-DA0C-876F68D57AC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827F18-7DBE-118A-5062-661F0CDFFDC8}"/>
              </a:ext>
            </a:extLst>
          </p:cNvPr>
          <p:cNvPicPr>
            <a:picLocks noChangeAspect="1"/>
          </p:cNvPicPr>
          <p:nvPr/>
        </p:nvPicPr>
        <p:blipFill>
          <a:blip r:embed="rId2"/>
          <a:stretch>
            <a:fillRect/>
          </a:stretch>
        </p:blipFill>
        <p:spPr>
          <a:xfrm>
            <a:off x="676836" y="889000"/>
            <a:ext cx="5080000" cy="5080000"/>
          </a:xfrm>
          <a:prstGeom prst="rect">
            <a:avLst/>
          </a:prstGeom>
        </p:spPr>
      </p:pic>
      <p:pic>
        <p:nvPicPr>
          <p:cNvPr id="7" name="Picture 6">
            <a:extLst>
              <a:ext uri="{FF2B5EF4-FFF2-40B4-BE49-F238E27FC236}">
                <a16:creationId xmlns:a16="http://schemas.microsoft.com/office/drawing/2014/main" id="{C5418C0D-A03E-719E-EB5D-5B772C9C04CB}"/>
              </a:ext>
            </a:extLst>
          </p:cNvPr>
          <p:cNvPicPr>
            <a:picLocks noChangeAspect="1"/>
          </p:cNvPicPr>
          <p:nvPr/>
        </p:nvPicPr>
        <p:blipFill>
          <a:blip r:embed="rId3"/>
          <a:stretch>
            <a:fillRect/>
          </a:stretch>
        </p:blipFill>
        <p:spPr>
          <a:xfrm>
            <a:off x="6435166" y="889000"/>
            <a:ext cx="5080000" cy="5080000"/>
          </a:xfrm>
          <a:prstGeom prst="rect">
            <a:avLst/>
          </a:prstGeom>
        </p:spPr>
      </p:pic>
      <p:pic>
        <p:nvPicPr>
          <p:cNvPr id="4" name="Picture 3">
            <a:extLst>
              <a:ext uri="{FF2B5EF4-FFF2-40B4-BE49-F238E27FC236}">
                <a16:creationId xmlns:a16="http://schemas.microsoft.com/office/drawing/2014/main" id="{F12E7BD8-13F1-AC87-BA28-DE747E237BD6}"/>
              </a:ext>
            </a:extLst>
          </p:cNvPr>
          <p:cNvPicPr>
            <a:picLocks noChangeAspect="1"/>
          </p:cNvPicPr>
          <p:nvPr/>
        </p:nvPicPr>
        <p:blipFill>
          <a:blip r:embed="rId4"/>
          <a:stretch>
            <a:fillRect/>
          </a:stretch>
        </p:blipFill>
        <p:spPr>
          <a:xfrm>
            <a:off x="3452906" y="0"/>
            <a:ext cx="2871694" cy="2871694"/>
          </a:xfrm>
          <a:prstGeom prst="rect">
            <a:avLst/>
          </a:prstGeom>
        </p:spPr>
      </p:pic>
    </p:spTree>
    <p:extLst>
      <p:ext uri="{BB962C8B-B14F-4D97-AF65-F5344CB8AC3E}">
        <p14:creationId xmlns:p14="http://schemas.microsoft.com/office/powerpoint/2010/main" val="327341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F41AB45B-2E60-E8CB-150B-A51FD301CF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E8694B-408D-90D8-7F96-5E2E07B1C2B8}"/>
              </a:ext>
            </a:extLst>
          </p:cNvPr>
          <p:cNvPicPr>
            <a:picLocks noChangeAspect="1"/>
          </p:cNvPicPr>
          <p:nvPr/>
        </p:nvPicPr>
        <p:blipFill>
          <a:blip r:embed="rId2"/>
          <a:stretch>
            <a:fillRect/>
          </a:stretch>
        </p:blipFill>
        <p:spPr>
          <a:xfrm>
            <a:off x="6472693" y="1216959"/>
            <a:ext cx="5026756" cy="4450976"/>
          </a:xfrm>
          <a:prstGeom prst="rect">
            <a:avLst/>
          </a:prstGeom>
        </p:spPr>
      </p:pic>
      <p:pic>
        <p:nvPicPr>
          <p:cNvPr id="5" name="Picture 4">
            <a:extLst>
              <a:ext uri="{FF2B5EF4-FFF2-40B4-BE49-F238E27FC236}">
                <a16:creationId xmlns:a16="http://schemas.microsoft.com/office/drawing/2014/main" id="{4E2A1AB7-8DF3-E275-E54B-6F0F79F57D16}"/>
              </a:ext>
            </a:extLst>
          </p:cNvPr>
          <p:cNvPicPr>
            <a:picLocks noChangeAspect="1"/>
          </p:cNvPicPr>
          <p:nvPr/>
        </p:nvPicPr>
        <p:blipFill>
          <a:blip r:embed="rId3"/>
          <a:stretch>
            <a:fillRect/>
          </a:stretch>
        </p:blipFill>
        <p:spPr>
          <a:xfrm>
            <a:off x="1151791" y="1100418"/>
            <a:ext cx="4567517" cy="4567517"/>
          </a:xfrm>
          <a:prstGeom prst="rect">
            <a:avLst/>
          </a:prstGeom>
        </p:spPr>
      </p:pic>
    </p:spTree>
    <p:extLst>
      <p:ext uri="{BB962C8B-B14F-4D97-AF65-F5344CB8AC3E}">
        <p14:creationId xmlns:p14="http://schemas.microsoft.com/office/powerpoint/2010/main" val="1382768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07F7541C-3F0A-896F-A81A-957C1C58C8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45D9DD5-1A36-5765-098C-3067FC13ED06}"/>
              </a:ext>
            </a:extLst>
          </p:cNvPr>
          <p:cNvPicPr>
            <a:picLocks noChangeAspect="1"/>
          </p:cNvPicPr>
          <p:nvPr/>
        </p:nvPicPr>
        <p:blipFill>
          <a:blip r:embed="rId2"/>
          <a:stretch>
            <a:fillRect/>
          </a:stretch>
        </p:blipFill>
        <p:spPr>
          <a:xfrm>
            <a:off x="6472693" y="1216959"/>
            <a:ext cx="5026756" cy="4450976"/>
          </a:xfrm>
          <a:prstGeom prst="rect">
            <a:avLst/>
          </a:prstGeom>
        </p:spPr>
      </p:pic>
      <p:pic>
        <p:nvPicPr>
          <p:cNvPr id="4" name="Picture 3">
            <a:extLst>
              <a:ext uri="{FF2B5EF4-FFF2-40B4-BE49-F238E27FC236}">
                <a16:creationId xmlns:a16="http://schemas.microsoft.com/office/drawing/2014/main" id="{17D0E663-28CE-A5FD-A0E9-44897C1A07AC}"/>
              </a:ext>
            </a:extLst>
          </p:cNvPr>
          <p:cNvPicPr>
            <a:picLocks noChangeAspect="1"/>
          </p:cNvPicPr>
          <p:nvPr/>
        </p:nvPicPr>
        <p:blipFill>
          <a:blip r:embed="rId3"/>
          <a:stretch>
            <a:fillRect/>
          </a:stretch>
        </p:blipFill>
        <p:spPr>
          <a:xfrm>
            <a:off x="692551" y="1202995"/>
            <a:ext cx="5026757" cy="4452010"/>
          </a:xfrm>
          <a:prstGeom prst="rect">
            <a:avLst/>
          </a:prstGeom>
        </p:spPr>
      </p:pic>
    </p:spTree>
    <p:extLst>
      <p:ext uri="{BB962C8B-B14F-4D97-AF65-F5344CB8AC3E}">
        <p14:creationId xmlns:p14="http://schemas.microsoft.com/office/powerpoint/2010/main" val="3271151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609E27F3-B9C1-E33B-8AFB-4192E05B291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FA8801-23D5-FE57-A5FB-E4AE00203ACB}"/>
              </a:ext>
            </a:extLst>
          </p:cNvPr>
          <p:cNvPicPr>
            <a:picLocks noChangeAspect="1"/>
          </p:cNvPicPr>
          <p:nvPr/>
        </p:nvPicPr>
        <p:blipFill>
          <a:blip r:embed="rId2"/>
          <a:stretch>
            <a:fillRect/>
          </a:stretch>
        </p:blipFill>
        <p:spPr>
          <a:xfrm>
            <a:off x="6472693" y="1216959"/>
            <a:ext cx="5026756" cy="4450976"/>
          </a:xfrm>
          <a:prstGeom prst="rect">
            <a:avLst/>
          </a:prstGeom>
        </p:spPr>
      </p:pic>
      <p:pic>
        <p:nvPicPr>
          <p:cNvPr id="5" name="Picture 4">
            <a:extLst>
              <a:ext uri="{FF2B5EF4-FFF2-40B4-BE49-F238E27FC236}">
                <a16:creationId xmlns:a16="http://schemas.microsoft.com/office/drawing/2014/main" id="{64970053-DB9A-FDB2-47D1-A307E0FFE575}"/>
              </a:ext>
            </a:extLst>
          </p:cNvPr>
          <p:cNvPicPr>
            <a:picLocks noChangeAspect="1"/>
          </p:cNvPicPr>
          <p:nvPr/>
        </p:nvPicPr>
        <p:blipFill>
          <a:blip r:embed="rId3"/>
          <a:stretch>
            <a:fillRect/>
          </a:stretch>
        </p:blipFill>
        <p:spPr>
          <a:xfrm>
            <a:off x="692552" y="1202995"/>
            <a:ext cx="5026756" cy="4452009"/>
          </a:xfrm>
          <a:prstGeom prst="rect">
            <a:avLst/>
          </a:prstGeom>
        </p:spPr>
      </p:pic>
    </p:spTree>
    <p:extLst>
      <p:ext uri="{BB962C8B-B14F-4D97-AF65-F5344CB8AC3E}">
        <p14:creationId xmlns:p14="http://schemas.microsoft.com/office/powerpoint/2010/main" val="1271062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2105D3EA-AF2A-5D51-1BB2-46ECC110DD11}"/>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6B887E63-D61C-8940-5C78-457B3BDE7C7C}"/>
              </a:ext>
            </a:extLst>
          </p:cNvPr>
          <p:cNvSpPr txBox="1"/>
          <p:nvPr/>
        </p:nvSpPr>
        <p:spPr>
          <a:xfrm>
            <a:off x="3734920" y="2907575"/>
            <a:ext cx="4722160" cy="1042850"/>
          </a:xfrm>
          <a:prstGeom prst="rect">
            <a:avLst/>
          </a:prstGeom>
          <a:noFill/>
        </p:spPr>
        <p:txBody>
          <a:bodyPr wrap="square" rtlCol="0">
            <a:spAutoFit/>
          </a:bodyPr>
          <a:lstStyle/>
          <a:p>
            <a:pPr algn="ctr">
              <a:lnSpc>
                <a:spcPts val="6400"/>
              </a:lnSpc>
            </a:pPr>
            <a:r>
              <a:rPr lang="en-US" sz="9600" b="1" dirty="0">
                <a:solidFill>
                  <a:schemeClr val="bg1"/>
                </a:solidFill>
                <a:latin typeface="American Typewriter" panose="02090604020004020304" pitchFamily="18" charset="77"/>
              </a:rPr>
              <a:t>Audio</a:t>
            </a:r>
          </a:p>
        </p:txBody>
      </p:sp>
    </p:spTree>
    <p:extLst>
      <p:ext uri="{BB962C8B-B14F-4D97-AF65-F5344CB8AC3E}">
        <p14:creationId xmlns:p14="http://schemas.microsoft.com/office/powerpoint/2010/main" val="2736937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3C5A5026-C42A-7138-A7CE-5E96EE5096C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000D979-E88C-1AF3-D323-CD72A70D9C06}"/>
              </a:ext>
            </a:extLst>
          </p:cNvPr>
          <p:cNvPicPr>
            <a:picLocks noChangeAspect="1"/>
          </p:cNvPicPr>
          <p:nvPr/>
        </p:nvPicPr>
        <p:blipFill>
          <a:blip r:embed="rId2"/>
          <a:stretch>
            <a:fillRect/>
          </a:stretch>
        </p:blipFill>
        <p:spPr>
          <a:xfrm>
            <a:off x="6350" y="0"/>
            <a:ext cx="12185650" cy="6861574"/>
          </a:xfrm>
          <a:prstGeom prst="rect">
            <a:avLst/>
          </a:prstGeom>
        </p:spPr>
      </p:pic>
    </p:spTree>
    <p:extLst>
      <p:ext uri="{BB962C8B-B14F-4D97-AF65-F5344CB8AC3E}">
        <p14:creationId xmlns:p14="http://schemas.microsoft.com/office/powerpoint/2010/main" val="3713906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5B84081-1487-CBA8-D115-5125AB0289A2}"/>
            </a:ext>
          </a:extLst>
        </p:cNvPr>
        <p:cNvGrpSpPr/>
        <p:nvPr/>
      </p:nvGrpSpPr>
      <p:grpSpPr>
        <a:xfrm>
          <a:off x="0" y="0"/>
          <a:ext cx="0" cy="0"/>
          <a:chOff x="0" y="0"/>
          <a:chExt cx="0" cy="0"/>
        </a:xfrm>
      </p:grpSpPr>
      <p:pic>
        <p:nvPicPr>
          <p:cNvPr id="2" name="CZ-Speech.mp3">
            <a:hlinkClick r:id="" action="ppaction://media"/>
            <a:extLst>
              <a:ext uri="{FF2B5EF4-FFF2-40B4-BE49-F238E27FC236}">
                <a16:creationId xmlns:a16="http://schemas.microsoft.com/office/drawing/2014/main" id="{57C386F4-A748-2079-E25F-7098A8DDEE12}"/>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a:stretch/>
        </p:blipFill>
        <p:spPr>
          <a:xfrm>
            <a:off x="1136662" y="1186820"/>
            <a:ext cx="3690831" cy="4484360"/>
          </a:xfrm>
          <a:prstGeom prst="rect">
            <a:avLst/>
          </a:prstGeom>
        </p:spPr>
      </p:pic>
      <p:pic>
        <p:nvPicPr>
          <p:cNvPr id="3" name="CZ-Speech-AI.mp3">
            <a:hlinkClick r:id="" action="ppaction://media"/>
            <a:extLst>
              <a:ext uri="{FF2B5EF4-FFF2-40B4-BE49-F238E27FC236}">
                <a16:creationId xmlns:a16="http://schemas.microsoft.com/office/drawing/2014/main" id="{603A88F8-AB32-4112-36A6-379EBC36BF10}"/>
              </a:ext>
            </a:extLst>
          </p:cNvPr>
          <p:cNvPicPr>
            <a:picLocks noChangeAspect="1"/>
          </p:cNvPicPr>
          <p:nvPr>
            <a:audioFile r:link="rId4"/>
            <p:extLst>
              <p:ext uri="{DAA4B4D4-6D71-4841-9C94-3DE7FCFB9230}">
                <p14:media xmlns:p14="http://schemas.microsoft.com/office/powerpoint/2010/main" r:embed="rId3"/>
              </p:ext>
            </p:extLst>
          </p:nvPr>
        </p:nvPicPr>
        <p:blipFill>
          <a:blip r:embed="rId6"/>
          <a:srcRect/>
          <a:stretch/>
        </p:blipFill>
        <p:spPr>
          <a:xfrm>
            <a:off x="7364507" y="1186819"/>
            <a:ext cx="3690831" cy="4484361"/>
          </a:xfrm>
          <a:prstGeom prst="rect">
            <a:avLst/>
          </a:prstGeom>
        </p:spPr>
      </p:pic>
    </p:spTree>
    <p:extLst>
      <p:ext uri="{BB962C8B-B14F-4D97-AF65-F5344CB8AC3E}">
        <p14:creationId xmlns:p14="http://schemas.microsoft.com/office/powerpoint/2010/main" val="108108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816"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658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repeatCount="0" fill="hold" display="0">
                  <p:stCondLst>
                    <p:cond delay="indefinite"/>
                  </p:stCondLst>
                  <p:endCondLst>
                    <p:cond evt="onStopAudio" delay="0">
                      <p:tgtEl>
                        <p:sldTgt/>
                      </p:tgtEl>
                    </p:cond>
                  </p:endCondLst>
                </p:cTn>
                <p:tgtEl>
                  <p:spTgt spid="2"/>
                </p:tgtEl>
              </p:cMediaNode>
            </p:audio>
            <p:audio>
              <p:cMediaNode vol="80000">
                <p:cTn id="16" repeatCount="0" fill="hold" display="0">
                  <p:stCondLst>
                    <p:cond delay="indefinite"/>
                  </p:stCondLst>
                  <p:endCondLst>
                    <p:cond evt="onStopAudio" delay="0">
                      <p:tgtEl>
                        <p:sldTgt/>
                      </p:tgtEl>
                    </p:cond>
                  </p:endCondLst>
                </p:cTn>
                <p:tgtEl>
                  <p:spTgt spid="3"/>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5B84081-1487-CBA8-D115-5125AB0289A2}"/>
            </a:ext>
          </a:extLst>
        </p:cNvPr>
        <p:cNvGrpSpPr/>
        <p:nvPr/>
      </p:nvGrpSpPr>
      <p:grpSpPr>
        <a:xfrm>
          <a:off x="0" y="0"/>
          <a:ext cx="0" cy="0"/>
          <a:chOff x="0" y="0"/>
          <a:chExt cx="0" cy="0"/>
        </a:xfrm>
      </p:grpSpPr>
      <p:pic>
        <p:nvPicPr>
          <p:cNvPr id="4" name="CZ-Fake-AI.mp3">
            <a:hlinkClick r:id="" action="ppaction://media"/>
            <a:extLst>
              <a:ext uri="{FF2B5EF4-FFF2-40B4-BE49-F238E27FC236}">
                <a16:creationId xmlns:a16="http://schemas.microsoft.com/office/drawing/2014/main" id="{040E3C86-14F5-5D0A-702D-F6F33E62B8A0}"/>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a:stretch/>
        </p:blipFill>
        <p:spPr>
          <a:xfrm>
            <a:off x="7364508" y="1186820"/>
            <a:ext cx="3690830" cy="4484359"/>
          </a:xfrm>
          <a:prstGeom prst="rect">
            <a:avLst/>
          </a:prstGeom>
        </p:spPr>
      </p:pic>
      <p:pic>
        <p:nvPicPr>
          <p:cNvPr id="6" name="Picture 5">
            <a:extLst>
              <a:ext uri="{FF2B5EF4-FFF2-40B4-BE49-F238E27FC236}">
                <a16:creationId xmlns:a16="http://schemas.microsoft.com/office/drawing/2014/main" id="{78393F3D-CDC6-F0C8-0DFA-1812684E0D9A}"/>
              </a:ext>
            </a:extLst>
          </p:cNvPr>
          <p:cNvPicPr>
            <a:picLocks noChangeAspect="1"/>
          </p:cNvPicPr>
          <p:nvPr/>
        </p:nvPicPr>
        <p:blipFill>
          <a:blip r:embed="rId5"/>
          <a:stretch>
            <a:fillRect/>
          </a:stretch>
        </p:blipFill>
        <p:spPr>
          <a:xfrm>
            <a:off x="1136662" y="1186820"/>
            <a:ext cx="3690830" cy="4484359"/>
          </a:xfrm>
          <a:prstGeom prst="rect">
            <a:avLst/>
          </a:prstGeom>
        </p:spPr>
      </p:pic>
    </p:spTree>
    <p:extLst>
      <p:ext uri="{BB962C8B-B14F-4D97-AF65-F5344CB8AC3E}">
        <p14:creationId xmlns:p14="http://schemas.microsoft.com/office/powerpoint/2010/main" val="285126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3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repeatCount="0" fill="hold" display="0">
                  <p:stCondLst>
                    <p:cond delay="indefinite"/>
                  </p:stCondLst>
                  <p:endCondLst>
                    <p:cond evt="onStopAudio" delay="0">
                      <p:tgtEl>
                        <p:sldTgt/>
                      </p:tgtEl>
                    </p:cond>
                  </p:endCondLst>
                </p:cTn>
                <p:tgtEl>
                  <p:spTgt spid="4"/>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EC4321A-46E0-B9EE-FC81-875FEF87D4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5C9EAE-7B8B-45EC-AB64-B798788E82C9}"/>
              </a:ext>
            </a:extLst>
          </p:cNvPr>
          <p:cNvSpPr txBox="1"/>
          <p:nvPr/>
        </p:nvSpPr>
        <p:spPr>
          <a:xfrm>
            <a:off x="206188" y="3044279"/>
            <a:ext cx="11779624" cy="769441"/>
          </a:xfrm>
          <a:prstGeom prst="rect">
            <a:avLst/>
          </a:prstGeom>
          <a:noFill/>
        </p:spPr>
        <p:txBody>
          <a:bodyPr wrap="square" rtlCol="0">
            <a:spAutoFit/>
          </a:bodyPr>
          <a:lstStyle/>
          <a:p>
            <a:r>
              <a:rPr lang="en-US" sz="4400" b="1">
                <a:solidFill>
                  <a:schemeClr val="bg1"/>
                </a:solidFill>
                <a:latin typeface="American Typewriter" panose="02090604020004020304" pitchFamily="18" charset="77"/>
                <a:hlinkClick r:id="rId2">
                  <a:extLst>
                    <a:ext uri="{A12FA001-AC4F-418D-AE19-62706E023703}">
                      <ahyp:hlinkClr xmlns:ahyp="http://schemas.microsoft.com/office/drawing/2018/hyperlinkcolor" val="tx"/>
                    </a:ext>
                  </a:extLst>
                </a:hlinkClick>
              </a:rPr>
              <a:t>https://sightengine.com/ai-or-not-music</a:t>
            </a:r>
            <a:endParaRPr lang="en-US" sz="4400" b="1">
              <a:solidFill>
                <a:schemeClr val="bg1"/>
              </a:solidFill>
              <a:latin typeface="American Typewriter" panose="02090604020004020304" pitchFamily="18" charset="77"/>
            </a:endParaRPr>
          </a:p>
        </p:txBody>
      </p:sp>
    </p:spTree>
    <p:extLst>
      <p:ext uri="{BB962C8B-B14F-4D97-AF65-F5344CB8AC3E}">
        <p14:creationId xmlns:p14="http://schemas.microsoft.com/office/powerpoint/2010/main" val="3391829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0C287A31-F465-79AA-B68D-2B0490A322F3}"/>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4AD4A75A-B615-F1F7-EA8D-6DE2BDA00802}"/>
              </a:ext>
            </a:extLst>
          </p:cNvPr>
          <p:cNvSpPr txBox="1"/>
          <p:nvPr/>
        </p:nvSpPr>
        <p:spPr>
          <a:xfrm>
            <a:off x="3734920" y="2907575"/>
            <a:ext cx="4722160" cy="1042850"/>
          </a:xfrm>
          <a:prstGeom prst="rect">
            <a:avLst/>
          </a:prstGeom>
          <a:noFill/>
        </p:spPr>
        <p:txBody>
          <a:bodyPr wrap="square" rtlCol="0">
            <a:spAutoFit/>
          </a:bodyPr>
          <a:lstStyle/>
          <a:p>
            <a:pPr algn="ctr">
              <a:lnSpc>
                <a:spcPts val="6400"/>
              </a:lnSpc>
            </a:pPr>
            <a:r>
              <a:rPr lang="en-US" sz="9600" b="1" dirty="0">
                <a:solidFill>
                  <a:schemeClr val="bg1"/>
                </a:solidFill>
                <a:latin typeface="American Typewriter" panose="02090604020004020304" pitchFamily="18" charset="77"/>
              </a:rPr>
              <a:t>Video</a:t>
            </a:r>
          </a:p>
        </p:txBody>
      </p:sp>
    </p:spTree>
    <p:extLst>
      <p:ext uri="{BB962C8B-B14F-4D97-AF65-F5344CB8AC3E}">
        <p14:creationId xmlns:p14="http://schemas.microsoft.com/office/powerpoint/2010/main" val="1613023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800FE507-1201-1CA4-6BF3-0EC112DC346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9167511-5945-C4CD-9ACD-CDA677445A10}"/>
              </a:ext>
            </a:extLst>
          </p:cNvPr>
          <p:cNvPicPr>
            <a:picLocks noChangeAspect="1"/>
          </p:cNvPicPr>
          <p:nvPr/>
        </p:nvPicPr>
        <p:blipFill>
          <a:blip r:embed="rId2"/>
          <a:stretch>
            <a:fillRect/>
          </a:stretch>
        </p:blipFill>
        <p:spPr>
          <a:xfrm>
            <a:off x="6350" y="0"/>
            <a:ext cx="12185650" cy="6861574"/>
          </a:xfrm>
          <a:prstGeom prst="rect">
            <a:avLst/>
          </a:prstGeom>
        </p:spPr>
      </p:pic>
    </p:spTree>
    <p:extLst>
      <p:ext uri="{BB962C8B-B14F-4D97-AF65-F5344CB8AC3E}">
        <p14:creationId xmlns:p14="http://schemas.microsoft.com/office/powerpoint/2010/main" val="8935880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A864DFF2-EF11-9BF9-D31F-7ECC2F31C120}"/>
            </a:ext>
          </a:extLst>
        </p:cNvPr>
        <p:cNvGrpSpPr/>
        <p:nvPr/>
      </p:nvGrpSpPr>
      <p:grpSpPr>
        <a:xfrm>
          <a:off x="0" y="0"/>
          <a:ext cx="0" cy="0"/>
          <a:chOff x="0" y="0"/>
          <a:chExt cx="0" cy="0"/>
        </a:xfrm>
      </p:grpSpPr>
      <p:pic>
        <p:nvPicPr>
          <p:cNvPr id="2" name="Will Smith spaghetti.mp4">
            <a:hlinkClick r:id="" action="ppaction://media"/>
            <a:extLst>
              <a:ext uri="{FF2B5EF4-FFF2-40B4-BE49-F238E27FC236}">
                <a16:creationId xmlns:a16="http://schemas.microsoft.com/office/drawing/2014/main" id="{5E3B862B-7BBC-CDC5-EB4B-8E26C36E73A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167188" y="0"/>
            <a:ext cx="3857625" cy="6858000"/>
          </a:xfrm>
          <a:prstGeom prst="rect">
            <a:avLst/>
          </a:prstGeom>
        </p:spPr>
      </p:pic>
    </p:spTree>
    <p:extLst>
      <p:ext uri="{BB962C8B-B14F-4D97-AF65-F5344CB8AC3E}">
        <p14:creationId xmlns:p14="http://schemas.microsoft.com/office/powerpoint/2010/main" val="205116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57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6A005BF9-7092-BF39-82FB-0B724A260C0F}"/>
            </a:ext>
          </a:extLst>
        </p:cNvPr>
        <p:cNvGrpSpPr/>
        <p:nvPr/>
      </p:nvGrpSpPr>
      <p:grpSpPr>
        <a:xfrm>
          <a:off x="0" y="0"/>
          <a:ext cx="0" cy="0"/>
          <a:chOff x="0" y="0"/>
          <a:chExt cx="0" cy="0"/>
        </a:xfrm>
      </p:grpSpPr>
      <p:pic>
        <p:nvPicPr>
          <p:cNvPr id="2" name="Bunnies.mp4">
            <a:hlinkClick r:id="" action="ppaction://media"/>
            <a:extLst>
              <a:ext uri="{FF2B5EF4-FFF2-40B4-BE49-F238E27FC236}">
                <a16:creationId xmlns:a16="http://schemas.microsoft.com/office/drawing/2014/main" id="{2A985D88-89F1-0099-1C30-2BF3DBD9C8A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465715" y="141194"/>
            <a:ext cx="7260570" cy="6575611"/>
          </a:xfrm>
          <a:prstGeom prst="rect">
            <a:avLst/>
          </a:prstGeom>
        </p:spPr>
      </p:pic>
      <p:pic>
        <p:nvPicPr>
          <p:cNvPr id="4" name="Picture 3">
            <a:extLst>
              <a:ext uri="{FF2B5EF4-FFF2-40B4-BE49-F238E27FC236}">
                <a16:creationId xmlns:a16="http://schemas.microsoft.com/office/drawing/2014/main" id="{7A971ED6-04AC-9A8C-C89F-D4FD7429647F}"/>
              </a:ext>
            </a:extLst>
          </p:cNvPr>
          <p:cNvPicPr>
            <a:picLocks noChangeAspect="1"/>
          </p:cNvPicPr>
          <p:nvPr/>
        </p:nvPicPr>
        <p:blipFill>
          <a:blip r:embed="rId5"/>
          <a:stretch>
            <a:fillRect/>
          </a:stretch>
        </p:blipFill>
        <p:spPr>
          <a:xfrm rot="20624085">
            <a:off x="8717360" y="295835"/>
            <a:ext cx="3106665" cy="1936750"/>
          </a:xfrm>
          <a:prstGeom prst="rect">
            <a:avLst/>
          </a:prstGeom>
        </p:spPr>
      </p:pic>
    </p:spTree>
    <p:extLst>
      <p:ext uri="{BB962C8B-B14F-4D97-AF65-F5344CB8AC3E}">
        <p14:creationId xmlns:p14="http://schemas.microsoft.com/office/powerpoint/2010/main" val="4010969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11BE2E4-7153-70B6-9013-86DE366D7A88}"/>
            </a:ext>
          </a:extLst>
        </p:cNvPr>
        <p:cNvGrpSpPr/>
        <p:nvPr/>
      </p:nvGrpSpPr>
      <p:grpSpPr>
        <a:xfrm>
          <a:off x="0" y="0"/>
          <a:ext cx="0" cy="0"/>
          <a:chOff x="0" y="0"/>
          <a:chExt cx="0" cy="0"/>
        </a:xfrm>
      </p:grpSpPr>
      <p:pic>
        <p:nvPicPr>
          <p:cNvPr id="2" name="Celebrating National Pool Day with the Penn State Nittany Lion_720p.mp4">
            <a:hlinkClick r:id="" action="ppaction://media"/>
            <a:extLst>
              <a:ext uri="{FF2B5EF4-FFF2-40B4-BE49-F238E27FC236}">
                <a16:creationId xmlns:a16="http://schemas.microsoft.com/office/drawing/2014/main" id="{25DB4AF6-75C4-B04C-90FE-169DDD11342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219435" y="92884"/>
            <a:ext cx="3753130" cy="6672231"/>
          </a:xfrm>
          <a:prstGeom prst="rect">
            <a:avLst/>
          </a:prstGeom>
        </p:spPr>
      </p:pic>
      <p:pic>
        <p:nvPicPr>
          <p:cNvPr id="4" name="Picture 3">
            <a:extLst>
              <a:ext uri="{FF2B5EF4-FFF2-40B4-BE49-F238E27FC236}">
                <a16:creationId xmlns:a16="http://schemas.microsoft.com/office/drawing/2014/main" id="{51578CF9-F5EC-99EF-EBBE-C8D5F6A73CFD}"/>
              </a:ext>
            </a:extLst>
          </p:cNvPr>
          <p:cNvPicPr>
            <a:picLocks noChangeAspect="1"/>
          </p:cNvPicPr>
          <p:nvPr/>
        </p:nvPicPr>
        <p:blipFill>
          <a:blip r:embed="rId5"/>
          <a:stretch>
            <a:fillRect/>
          </a:stretch>
        </p:blipFill>
        <p:spPr>
          <a:xfrm>
            <a:off x="9333753" y="0"/>
            <a:ext cx="2858247" cy="2858247"/>
          </a:xfrm>
          <a:prstGeom prst="rect">
            <a:avLst/>
          </a:prstGeom>
        </p:spPr>
      </p:pic>
    </p:spTree>
    <p:extLst>
      <p:ext uri="{BB962C8B-B14F-4D97-AF65-F5344CB8AC3E}">
        <p14:creationId xmlns:p14="http://schemas.microsoft.com/office/powerpoint/2010/main" val="332413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80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618BFB5-AB67-1847-C93D-25630953C55C}"/>
            </a:ext>
          </a:extLst>
        </p:cNvPr>
        <p:cNvGrpSpPr/>
        <p:nvPr/>
      </p:nvGrpSpPr>
      <p:grpSpPr>
        <a:xfrm>
          <a:off x="0" y="0"/>
          <a:ext cx="0" cy="0"/>
          <a:chOff x="0" y="0"/>
          <a:chExt cx="0" cy="0"/>
        </a:xfrm>
      </p:grpSpPr>
      <p:pic>
        <p:nvPicPr>
          <p:cNvPr id="2" name="LionDance.mp4">
            <a:hlinkClick r:id="" action="ppaction://media"/>
            <a:extLst>
              <a:ext uri="{FF2B5EF4-FFF2-40B4-BE49-F238E27FC236}">
                <a16:creationId xmlns:a16="http://schemas.microsoft.com/office/drawing/2014/main" id="{E51BAB3C-D0E2-61C1-06A1-9842C4DFCEF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212711" y="80931"/>
            <a:ext cx="3766577" cy="6696137"/>
          </a:xfrm>
          <a:prstGeom prst="rect">
            <a:avLst/>
          </a:prstGeom>
        </p:spPr>
      </p:pic>
      <p:pic>
        <p:nvPicPr>
          <p:cNvPr id="4" name="Picture 3">
            <a:extLst>
              <a:ext uri="{FF2B5EF4-FFF2-40B4-BE49-F238E27FC236}">
                <a16:creationId xmlns:a16="http://schemas.microsoft.com/office/drawing/2014/main" id="{ADFF2327-4747-528C-68E9-A3CEE1695E1B}"/>
              </a:ext>
            </a:extLst>
          </p:cNvPr>
          <p:cNvPicPr>
            <a:picLocks noChangeAspect="1"/>
          </p:cNvPicPr>
          <p:nvPr/>
        </p:nvPicPr>
        <p:blipFill>
          <a:blip r:embed="rId5"/>
          <a:stretch>
            <a:fillRect/>
          </a:stretch>
        </p:blipFill>
        <p:spPr>
          <a:xfrm rot="20537125">
            <a:off x="8609849" y="241674"/>
            <a:ext cx="3365504" cy="2098115"/>
          </a:xfrm>
          <a:prstGeom prst="rect">
            <a:avLst/>
          </a:prstGeom>
        </p:spPr>
      </p:pic>
    </p:spTree>
    <p:extLst>
      <p:ext uri="{BB962C8B-B14F-4D97-AF65-F5344CB8AC3E}">
        <p14:creationId xmlns:p14="http://schemas.microsoft.com/office/powerpoint/2010/main" val="76849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46"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BCDC3093-D8AF-9E8F-1E56-05776EC22D50}"/>
            </a:ext>
          </a:extLst>
        </p:cNvPr>
        <p:cNvGrpSpPr/>
        <p:nvPr/>
      </p:nvGrpSpPr>
      <p:grpSpPr>
        <a:xfrm>
          <a:off x="0" y="0"/>
          <a:ext cx="0" cy="0"/>
          <a:chOff x="0" y="0"/>
          <a:chExt cx="0" cy="0"/>
        </a:xfrm>
      </p:grpSpPr>
      <p:pic>
        <p:nvPicPr>
          <p:cNvPr id="2" name="Bibi.mp4">
            <a:hlinkClick r:id="" action="ppaction://media"/>
            <a:extLst>
              <a:ext uri="{FF2B5EF4-FFF2-40B4-BE49-F238E27FC236}">
                <a16:creationId xmlns:a16="http://schemas.microsoft.com/office/drawing/2014/main" id="{318B1062-8C82-34A3-2DBD-BDA398647F6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33083" y="131109"/>
            <a:ext cx="11725834" cy="6595782"/>
          </a:xfrm>
          <a:prstGeom prst="rect">
            <a:avLst/>
          </a:prstGeom>
        </p:spPr>
      </p:pic>
      <p:pic>
        <p:nvPicPr>
          <p:cNvPr id="4" name="Picture 3">
            <a:extLst>
              <a:ext uri="{FF2B5EF4-FFF2-40B4-BE49-F238E27FC236}">
                <a16:creationId xmlns:a16="http://schemas.microsoft.com/office/drawing/2014/main" id="{ED5FDE65-F6FC-8089-79F9-0844A5114004}"/>
              </a:ext>
            </a:extLst>
          </p:cNvPr>
          <p:cNvPicPr>
            <a:picLocks noChangeAspect="1"/>
          </p:cNvPicPr>
          <p:nvPr/>
        </p:nvPicPr>
        <p:blipFill>
          <a:blip r:embed="rId5"/>
          <a:stretch>
            <a:fillRect/>
          </a:stretch>
        </p:blipFill>
        <p:spPr>
          <a:xfrm>
            <a:off x="9306859" y="0"/>
            <a:ext cx="2885141" cy="2885141"/>
          </a:xfrm>
          <a:prstGeom prst="rect">
            <a:avLst/>
          </a:prstGeom>
        </p:spPr>
      </p:pic>
    </p:spTree>
    <p:extLst>
      <p:ext uri="{BB962C8B-B14F-4D97-AF65-F5344CB8AC3E}">
        <p14:creationId xmlns:p14="http://schemas.microsoft.com/office/powerpoint/2010/main" val="5731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768"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BA0DF451-B55B-8664-3130-84690C45161F}"/>
            </a:ext>
          </a:extLst>
        </p:cNvPr>
        <p:cNvGrpSpPr/>
        <p:nvPr/>
      </p:nvGrpSpPr>
      <p:grpSpPr>
        <a:xfrm>
          <a:off x="0" y="0"/>
          <a:ext cx="0" cy="0"/>
          <a:chOff x="0" y="0"/>
          <a:chExt cx="0" cy="0"/>
        </a:xfrm>
      </p:grpSpPr>
      <p:pic>
        <p:nvPicPr>
          <p:cNvPr id="2" name="ICE_1080p.mp4">
            <a:hlinkClick r:id="" action="ppaction://media"/>
            <a:extLst>
              <a:ext uri="{FF2B5EF4-FFF2-40B4-BE49-F238E27FC236}">
                <a16:creationId xmlns:a16="http://schemas.microsoft.com/office/drawing/2014/main" id="{DA650C72-1292-9A5C-D64B-D9E6D4EEC2B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216353" y="87406"/>
            <a:ext cx="3759293" cy="6683188"/>
          </a:xfrm>
          <a:prstGeom prst="rect">
            <a:avLst/>
          </a:prstGeom>
        </p:spPr>
      </p:pic>
      <p:pic>
        <p:nvPicPr>
          <p:cNvPr id="4" name="Picture 3">
            <a:extLst>
              <a:ext uri="{FF2B5EF4-FFF2-40B4-BE49-F238E27FC236}">
                <a16:creationId xmlns:a16="http://schemas.microsoft.com/office/drawing/2014/main" id="{E1B0711D-9C33-ED77-95A0-4E0B88C30BC7}"/>
              </a:ext>
            </a:extLst>
          </p:cNvPr>
          <p:cNvPicPr>
            <a:picLocks noChangeAspect="1"/>
          </p:cNvPicPr>
          <p:nvPr/>
        </p:nvPicPr>
        <p:blipFill>
          <a:blip r:embed="rId5"/>
          <a:stretch>
            <a:fillRect/>
          </a:stretch>
        </p:blipFill>
        <p:spPr>
          <a:xfrm rot="20503870">
            <a:off x="8668961" y="255120"/>
            <a:ext cx="3387074" cy="2111562"/>
          </a:xfrm>
          <a:prstGeom prst="rect">
            <a:avLst/>
          </a:prstGeom>
        </p:spPr>
      </p:pic>
    </p:spTree>
    <p:extLst>
      <p:ext uri="{BB962C8B-B14F-4D97-AF65-F5344CB8AC3E}">
        <p14:creationId xmlns:p14="http://schemas.microsoft.com/office/powerpoint/2010/main" val="3988608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29"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902D4336-921C-136B-77B0-11994DB9AC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07E6F1-AD33-B3C5-0EF6-C7995AFBE3BF}"/>
              </a:ext>
            </a:extLst>
          </p:cNvPr>
          <p:cNvSpPr txBox="1"/>
          <p:nvPr/>
        </p:nvSpPr>
        <p:spPr>
          <a:xfrm>
            <a:off x="295835" y="0"/>
            <a:ext cx="3361765" cy="1323439"/>
          </a:xfrm>
          <a:prstGeom prst="rect">
            <a:avLst/>
          </a:prstGeom>
          <a:noFill/>
        </p:spPr>
        <p:txBody>
          <a:bodyPr wrap="square" rtlCol="0">
            <a:spAutoFit/>
          </a:bodyPr>
          <a:lstStyle/>
          <a:p>
            <a:r>
              <a:rPr lang="en-US" sz="8000" b="1">
                <a:solidFill>
                  <a:schemeClr val="bg1"/>
                </a:solidFill>
                <a:latin typeface="American Typewriter" panose="02090604020004020304" pitchFamily="18" charset="77"/>
              </a:rPr>
              <a:t>So?...</a:t>
            </a:r>
          </a:p>
        </p:txBody>
      </p:sp>
      <p:sp>
        <p:nvSpPr>
          <p:cNvPr id="3" name="TextBox 2">
            <a:extLst>
              <a:ext uri="{FF2B5EF4-FFF2-40B4-BE49-F238E27FC236}">
                <a16:creationId xmlns:a16="http://schemas.microsoft.com/office/drawing/2014/main" id="{EAF38EB8-2E95-21FF-46E8-0228EDAF24AC}"/>
              </a:ext>
            </a:extLst>
          </p:cNvPr>
          <p:cNvSpPr txBox="1"/>
          <p:nvPr/>
        </p:nvSpPr>
        <p:spPr>
          <a:xfrm>
            <a:off x="434788" y="1498251"/>
            <a:ext cx="11506199" cy="4261423"/>
          </a:xfrm>
          <a:prstGeom prst="rect">
            <a:avLst/>
          </a:prstGeom>
          <a:noFill/>
        </p:spPr>
        <p:txBody>
          <a:bodyPr wrap="square" rtlCol="0">
            <a:spAutoFit/>
          </a:bodyPr>
          <a:lstStyle/>
          <a:p>
            <a:pPr marL="285750" indent="-285750">
              <a:lnSpc>
                <a:spcPts val="9000"/>
              </a:lnSpc>
              <a:buFont typeface="Arial" panose="020B0604020202020204" pitchFamily="34" charset="0"/>
              <a:buChar char="•"/>
            </a:pPr>
            <a:r>
              <a:rPr lang="en-US" sz="6000">
                <a:solidFill>
                  <a:schemeClr val="bg1"/>
                </a:solidFill>
                <a:latin typeface="American Typewriter" panose="02090604020004020304" pitchFamily="18" charset="77"/>
              </a:rPr>
              <a:t> Discernment – pay attention</a:t>
            </a:r>
          </a:p>
          <a:p>
            <a:pPr marL="285750" indent="-285750">
              <a:lnSpc>
                <a:spcPts val="7600"/>
              </a:lnSpc>
              <a:buFont typeface="Arial" panose="020B0604020202020204" pitchFamily="34" charset="0"/>
              <a:buChar char="•"/>
            </a:pPr>
            <a:r>
              <a:rPr lang="en-US" sz="6000">
                <a:solidFill>
                  <a:schemeClr val="bg1"/>
                </a:solidFill>
                <a:latin typeface="American Typewriter" panose="02090604020004020304" pitchFamily="18" charset="77"/>
              </a:rPr>
              <a:t> How </a:t>
            </a:r>
            <a:r>
              <a:rPr lang="en-US" sz="6000" u="sng">
                <a:solidFill>
                  <a:schemeClr val="bg1"/>
                </a:solidFill>
                <a:latin typeface="American Typewriter" panose="02090604020004020304" pitchFamily="18" charset="77"/>
              </a:rPr>
              <a:t>should</a:t>
            </a:r>
            <a:r>
              <a:rPr lang="en-US" sz="6000">
                <a:solidFill>
                  <a:schemeClr val="bg1"/>
                </a:solidFill>
                <a:latin typeface="American Typewriter" panose="02090604020004020304" pitchFamily="18" charset="77"/>
              </a:rPr>
              <a:t> we know what</a:t>
            </a:r>
          </a:p>
          <a:p>
            <a:pPr>
              <a:lnSpc>
                <a:spcPts val="7600"/>
              </a:lnSpc>
            </a:pPr>
            <a:r>
              <a:rPr lang="en-US" sz="6000">
                <a:solidFill>
                  <a:schemeClr val="bg1"/>
                </a:solidFill>
                <a:latin typeface="American Typewriter" panose="02090604020004020304" pitchFamily="18" charset="77"/>
              </a:rPr>
              <a:t>      we know?</a:t>
            </a:r>
          </a:p>
          <a:p>
            <a:pPr marL="285750" indent="-285750">
              <a:lnSpc>
                <a:spcPts val="9000"/>
              </a:lnSpc>
              <a:buFont typeface="Arial" panose="020B0604020202020204" pitchFamily="34" charset="0"/>
              <a:buChar char="•"/>
            </a:pPr>
            <a:r>
              <a:rPr lang="en-US" sz="6000">
                <a:solidFill>
                  <a:schemeClr val="bg1"/>
                </a:solidFill>
                <a:latin typeface="American Typewriter" panose="02090604020004020304" pitchFamily="18" charset="77"/>
              </a:rPr>
              <a:t> Avoid being discouraged...</a:t>
            </a:r>
          </a:p>
        </p:txBody>
      </p:sp>
    </p:spTree>
    <p:extLst>
      <p:ext uri="{BB962C8B-B14F-4D97-AF65-F5344CB8AC3E}">
        <p14:creationId xmlns:p14="http://schemas.microsoft.com/office/powerpoint/2010/main" val="7865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5CACBFB2-7A07-C8F6-14B1-5C9BE2965F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DD825B-6C70-DFC2-AFC7-9A5DD84330A6}"/>
              </a:ext>
            </a:extLst>
          </p:cNvPr>
          <p:cNvSpPr txBox="1"/>
          <p:nvPr/>
        </p:nvSpPr>
        <p:spPr>
          <a:xfrm>
            <a:off x="2472017" y="1452282"/>
            <a:ext cx="7247965" cy="1569660"/>
          </a:xfrm>
          <a:prstGeom prst="rect">
            <a:avLst/>
          </a:prstGeom>
          <a:noFill/>
        </p:spPr>
        <p:txBody>
          <a:bodyPr wrap="square" rtlCol="0">
            <a:spAutoFit/>
          </a:bodyPr>
          <a:lstStyle/>
          <a:p>
            <a:r>
              <a:rPr lang="en-US" sz="9600" b="1">
                <a:solidFill>
                  <a:schemeClr val="bg1"/>
                </a:solidFill>
                <a:latin typeface="American Typewriter" panose="02090604020004020304" pitchFamily="18" charset="77"/>
              </a:rPr>
              <a:t>Thank you!</a:t>
            </a:r>
          </a:p>
        </p:txBody>
      </p:sp>
      <p:sp>
        <p:nvSpPr>
          <p:cNvPr id="3" name="TextBox 2">
            <a:extLst>
              <a:ext uri="{FF2B5EF4-FFF2-40B4-BE49-F238E27FC236}">
                <a16:creationId xmlns:a16="http://schemas.microsoft.com/office/drawing/2014/main" id="{05ACDA19-043F-6E82-C0C7-396243B465EC}"/>
              </a:ext>
            </a:extLst>
          </p:cNvPr>
          <p:cNvSpPr txBox="1"/>
          <p:nvPr/>
        </p:nvSpPr>
        <p:spPr>
          <a:xfrm>
            <a:off x="3796552" y="4328500"/>
            <a:ext cx="4598894" cy="1077218"/>
          </a:xfrm>
          <a:prstGeom prst="rect">
            <a:avLst/>
          </a:prstGeom>
          <a:noFill/>
        </p:spPr>
        <p:txBody>
          <a:bodyPr wrap="square" rtlCol="0">
            <a:spAutoFit/>
          </a:bodyPr>
          <a:lstStyle/>
          <a:p>
            <a:pPr algn="ctr"/>
            <a:r>
              <a:rPr lang="en-US" sz="3200" b="1">
                <a:solidFill>
                  <a:schemeClr val="bg1"/>
                </a:solidFill>
                <a:latin typeface="American Typewriter" panose="02090604020004020304" pitchFamily="18" charset="77"/>
              </a:rPr>
              <a:t>Christopher Zorn</a:t>
            </a:r>
          </a:p>
          <a:p>
            <a:pPr algn="ctr"/>
            <a:r>
              <a:rPr lang="en-US" sz="3200" b="1">
                <a:solidFill>
                  <a:schemeClr val="bg1"/>
                </a:solidFill>
                <a:latin typeface="American Typewriter" panose="02090604020004020304" pitchFamily="18" charset="77"/>
              </a:rPr>
              <a:t>zorn@psu.edu</a:t>
            </a:r>
          </a:p>
        </p:txBody>
      </p:sp>
    </p:spTree>
    <p:extLst>
      <p:ext uri="{BB962C8B-B14F-4D97-AF65-F5344CB8AC3E}">
        <p14:creationId xmlns:p14="http://schemas.microsoft.com/office/powerpoint/2010/main" val="1078260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82333980-73D3-F8BB-C6F8-3FEBB11217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6418DC-1F58-F39F-7857-0430873BCF23}"/>
              </a:ext>
            </a:extLst>
          </p:cNvPr>
          <p:cNvSpPr txBox="1"/>
          <p:nvPr/>
        </p:nvSpPr>
        <p:spPr>
          <a:xfrm>
            <a:off x="255493" y="89624"/>
            <a:ext cx="3173506" cy="584775"/>
          </a:xfrm>
          <a:prstGeom prst="rect">
            <a:avLst/>
          </a:prstGeom>
          <a:noFill/>
        </p:spPr>
        <p:txBody>
          <a:bodyPr wrap="square" rtlCol="0">
            <a:spAutoFit/>
          </a:bodyPr>
          <a:lstStyle/>
          <a:p>
            <a:r>
              <a:rPr lang="en-US" sz="3200" b="1">
                <a:solidFill>
                  <a:schemeClr val="bg1"/>
                </a:solidFill>
                <a:latin typeface="American Typewriter" panose="02090604020004020304" pitchFamily="18" charset="77"/>
              </a:rPr>
              <a:t>My sources:</a:t>
            </a:r>
          </a:p>
        </p:txBody>
      </p:sp>
      <p:sp>
        <p:nvSpPr>
          <p:cNvPr id="3" name="TextBox 2">
            <a:extLst>
              <a:ext uri="{FF2B5EF4-FFF2-40B4-BE49-F238E27FC236}">
                <a16:creationId xmlns:a16="http://schemas.microsoft.com/office/drawing/2014/main" id="{CE54D22E-0057-40AB-1EAD-167CF06BE6B2}"/>
              </a:ext>
            </a:extLst>
          </p:cNvPr>
          <p:cNvSpPr txBox="1"/>
          <p:nvPr/>
        </p:nvSpPr>
        <p:spPr>
          <a:xfrm>
            <a:off x="255493" y="674399"/>
            <a:ext cx="5069541" cy="5632311"/>
          </a:xfrm>
          <a:prstGeom prst="rect">
            <a:avLst/>
          </a:prstGeom>
          <a:noFill/>
        </p:spPr>
        <p:txBody>
          <a:bodyPr wrap="square" rtlCol="0">
            <a:spAutoFit/>
          </a:bodyPr>
          <a:lstStyle/>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2">
                  <a:extLst>
                    <a:ext uri="{A12FA001-AC4F-418D-AE19-62706E023703}">
                      <ahyp:hlinkClr xmlns:ahyp="http://schemas.microsoft.com/office/drawing/2018/hyperlinkcolor" val="tx"/>
                    </a:ext>
                  </a:extLst>
                </a:hlinkClick>
              </a:rPr>
              <a:t>“AI or Not?” </a:t>
            </a:r>
            <a:r>
              <a:rPr lang="en-US">
                <a:solidFill>
                  <a:schemeClr val="bg1"/>
                </a:solidFill>
                <a:latin typeface="American Typewriter" panose="02090604020004020304" pitchFamily="18" charset="77"/>
                <a:hlinkClick r:id="rId3">
                  <a:extLst>
                    <a:ext uri="{A12FA001-AC4F-418D-AE19-62706E023703}">
                      <ahyp:hlinkClr xmlns:ahyp="http://schemas.microsoft.com/office/drawing/2018/hyperlinkcolor" val="tx"/>
                    </a:ext>
                  </a:extLst>
                </a:hlinkClick>
              </a:rPr>
              <a:t>(faces)</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3">
                  <a:extLst>
                    <a:ext uri="{A12FA001-AC4F-418D-AE19-62706E023703}">
                      <ahyp:hlinkClr xmlns:ahyp="http://schemas.microsoft.com/office/drawing/2018/hyperlinkcolor" val="tx"/>
                    </a:ext>
                  </a:extLst>
                </a:hlinkClick>
              </a:rPr>
              <a:t>Not Knowing When The Dawn Will Come</a:t>
            </a:r>
            <a:endParaRPr lang="en-US">
              <a:solidFill>
                <a:schemeClr val="bg1"/>
              </a:solidFill>
              <a:latin typeface="American Typewriter" panose="02090604020004020304" pitchFamily="18" charset="77"/>
            </a:endParaRP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4">
                  <a:extLst>
                    <a:ext uri="{A12FA001-AC4F-418D-AE19-62706E023703}">
                      <ahyp:hlinkClr xmlns:ahyp="http://schemas.microsoft.com/office/drawing/2018/hyperlinkcolor" val="tx"/>
                    </a:ext>
                  </a:extLst>
                </a:hlinkClick>
              </a:rPr>
              <a:t>An Eastern Ballad</a:t>
            </a:r>
            <a:endParaRPr lang="en-US">
              <a:solidFill>
                <a:schemeClr val="bg1"/>
              </a:solidFill>
              <a:latin typeface="American Typewriter" panose="02090604020004020304" pitchFamily="18" charset="77"/>
            </a:endParaRP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5">
                  <a:extLst>
                    <a:ext uri="{A12FA001-AC4F-418D-AE19-62706E023703}">
                      <ahyp:hlinkClr xmlns:ahyp="http://schemas.microsoft.com/office/drawing/2018/hyperlinkcolor" val="tx"/>
                    </a:ext>
                  </a:extLst>
                </a:hlinkClick>
              </a:rPr>
              <a:t>“AI-Generated Poetry is Indistinguishable from Human-Written Poetry and is Rated More Favorably,”</a:t>
            </a:r>
            <a:r>
              <a:rPr lang="en-US" i="1">
                <a:solidFill>
                  <a:schemeClr val="bg1"/>
                </a:solidFill>
                <a:latin typeface="American Typewriter" panose="02090604020004020304" pitchFamily="18" charset="77"/>
              </a:rPr>
              <a:t> Nature Scientific Reports </a:t>
            </a:r>
            <a:r>
              <a:rPr lang="en-US">
                <a:solidFill>
                  <a:schemeClr val="bg1"/>
                </a:solidFill>
                <a:latin typeface="American Typewriter" panose="02090604020004020304" pitchFamily="18" charset="77"/>
              </a:rPr>
              <a:t>(2024)</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6">
                  <a:extLst>
                    <a:ext uri="{A12FA001-AC4F-418D-AE19-62706E023703}">
                      <ahyp:hlinkClr xmlns:ahyp="http://schemas.microsoft.com/office/drawing/2018/hyperlinkcolor" val="tx"/>
                    </a:ext>
                  </a:extLst>
                </a:hlinkClick>
              </a:rPr>
              <a:t>Dr. Fish Snap Swivels</a:t>
            </a:r>
            <a:r>
              <a:rPr lang="en-US">
                <a:solidFill>
                  <a:schemeClr val="bg1"/>
                </a:solidFill>
                <a:latin typeface="American Typewriter" panose="02090604020004020304" pitchFamily="18" charset="77"/>
              </a:rPr>
              <a:t> (on Amazon)</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7">
                  <a:extLst>
                    <a:ext uri="{A12FA001-AC4F-418D-AE19-62706E023703}">
                      <ahyp:hlinkClr xmlns:ahyp="http://schemas.microsoft.com/office/drawing/2018/hyperlinkcolor" val="tx"/>
                    </a:ext>
                  </a:extLst>
                </a:hlinkClick>
              </a:rPr>
              <a:t>Civil War Soldier in the Wild Cat Regiment: Selections from the Tilton C. Reynolds Papers</a:t>
            </a:r>
            <a:r>
              <a:rPr lang="en-US">
                <a:solidFill>
                  <a:schemeClr val="bg1"/>
                </a:solidFill>
                <a:latin typeface="American Typewriter" panose="02090604020004020304" pitchFamily="18" charset="77"/>
              </a:rPr>
              <a:t> (Library of Congress)</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8">
                  <a:extLst>
                    <a:ext uri="{A12FA001-AC4F-418D-AE19-62706E023703}">
                      <ahyp:hlinkClr xmlns:ahyp="http://schemas.microsoft.com/office/drawing/2018/hyperlinkcolor" val="tx"/>
                    </a:ext>
                  </a:extLst>
                </a:hlinkClick>
              </a:rPr>
              <a:t>Diffusion Explainer</a:t>
            </a:r>
            <a:r>
              <a:rPr lang="en-US">
                <a:solidFill>
                  <a:schemeClr val="bg1"/>
                </a:solidFill>
                <a:latin typeface="American Typewriter" panose="02090604020004020304" pitchFamily="18" charset="77"/>
              </a:rPr>
              <a:t> (MIT Polo Club)</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9">
                  <a:extLst>
                    <a:ext uri="{A12FA001-AC4F-418D-AE19-62706E023703}">
                      <ahyp:hlinkClr xmlns:ahyp="http://schemas.microsoft.com/office/drawing/2018/hyperlinkcolor" val="tx"/>
                    </a:ext>
                  </a:extLst>
                </a:hlinkClick>
              </a:rPr>
              <a:t>“AI or Not? (music)</a:t>
            </a:r>
            <a:endParaRPr lang="en-US">
              <a:solidFill>
                <a:schemeClr val="bg1"/>
              </a:solidFill>
              <a:latin typeface="American Typewriter" panose="02090604020004020304" pitchFamily="18" charset="77"/>
            </a:endParaRP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0">
                  <a:extLst>
                    <a:ext uri="{A12FA001-AC4F-418D-AE19-62706E023703}">
                      <ahyp:hlinkClr xmlns:ahyp="http://schemas.microsoft.com/office/drawing/2018/hyperlinkcolor" val="tx"/>
                    </a:ext>
                  </a:extLst>
                </a:hlinkClick>
              </a:rPr>
              <a:t>The Will Smith Eating Spaghetti Test </a:t>
            </a:r>
            <a:r>
              <a:rPr lang="en-US">
                <a:solidFill>
                  <a:schemeClr val="bg1"/>
                </a:solidFill>
                <a:latin typeface="American Typewriter" panose="02090604020004020304" pitchFamily="18" charset="77"/>
              </a:rPr>
              <a:t>(Wikipedia)</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1">
                  <a:extLst>
                    <a:ext uri="{A12FA001-AC4F-418D-AE19-62706E023703}">
                      <ahyp:hlinkClr xmlns:ahyp="http://schemas.microsoft.com/office/drawing/2018/hyperlinkcolor" val="tx"/>
                    </a:ext>
                  </a:extLst>
                </a:hlinkClick>
              </a:rPr>
              <a:t>Bunnies Jumping on a Trampoline </a:t>
            </a:r>
            <a:r>
              <a:rPr lang="en-US">
                <a:solidFill>
                  <a:schemeClr val="bg1"/>
                </a:solidFill>
                <a:latin typeface="American Typewriter" panose="02090604020004020304" pitchFamily="18" charset="77"/>
              </a:rPr>
              <a:t>(TikTok)</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2">
                  <a:extLst>
                    <a:ext uri="{A12FA001-AC4F-418D-AE19-62706E023703}">
                      <ahyp:hlinkClr xmlns:ahyp="http://schemas.microsoft.com/office/drawing/2018/hyperlinkcolor" val="tx"/>
                    </a:ext>
                  </a:extLst>
                </a:hlinkClick>
              </a:rPr>
              <a:t>Nittany Lion @ the Pool</a:t>
            </a:r>
            <a:r>
              <a:rPr lang="en-US">
                <a:solidFill>
                  <a:schemeClr val="bg1"/>
                </a:solidFill>
                <a:latin typeface="American Typewriter" panose="02090604020004020304" pitchFamily="18" charset="77"/>
              </a:rPr>
              <a:t> (YouTube)</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3">
                  <a:extLst>
                    <a:ext uri="{A12FA001-AC4F-418D-AE19-62706E023703}">
                      <ahyp:hlinkClr xmlns:ahyp="http://schemas.microsoft.com/office/drawing/2018/hyperlinkcolor" val="tx"/>
                    </a:ext>
                  </a:extLst>
                </a:hlinkClick>
              </a:rPr>
              <a:t>Netanyahu Remarks</a:t>
            </a:r>
            <a:r>
              <a:rPr lang="en-US">
                <a:solidFill>
                  <a:schemeClr val="bg1"/>
                </a:solidFill>
                <a:latin typeface="American Typewriter" panose="02090604020004020304" pitchFamily="18" charset="77"/>
              </a:rPr>
              <a:t> (YouTube)</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4">
                  <a:extLst>
                    <a:ext uri="{A12FA001-AC4F-418D-AE19-62706E023703}">
                      <ahyp:hlinkClr xmlns:ahyp="http://schemas.microsoft.com/office/drawing/2018/hyperlinkcolor" val="tx"/>
                    </a:ext>
                  </a:extLst>
                </a:hlinkClick>
              </a:rPr>
              <a:t>ICE video</a:t>
            </a:r>
            <a:r>
              <a:rPr lang="en-US">
                <a:solidFill>
                  <a:schemeClr val="bg1"/>
                </a:solidFill>
                <a:latin typeface="American Typewriter" panose="02090604020004020304" pitchFamily="18" charset="77"/>
              </a:rPr>
              <a:t> (Instagram)</a:t>
            </a:r>
          </a:p>
        </p:txBody>
      </p:sp>
      <p:sp>
        <p:nvSpPr>
          <p:cNvPr id="4" name="TextBox 3">
            <a:extLst>
              <a:ext uri="{FF2B5EF4-FFF2-40B4-BE49-F238E27FC236}">
                <a16:creationId xmlns:a16="http://schemas.microsoft.com/office/drawing/2014/main" id="{18EE5AD0-BF99-D758-8C5F-178AF8073031}"/>
              </a:ext>
            </a:extLst>
          </p:cNvPr>
          <p:cNvSpPr txBox="1"/>
          <p:nvPr/>
        </p:nvSpPr>
        <p:spPr>
          <a:xfrm>
            <a:off x="7050740" y="89624"/>
            <a:ext cx="3173506" cy="584775"/>
          </a:xfrm>
          <a:prstGeom prst="rect">
            <a:avLst/>
          </a:prstGeom>
          <a:noFill/>
        </p:spPr>
        <p:txBody>
          <a:bodyPr wrap="square" rtlCol="0">
            <a:spAutoFit/>
          </a:bodyPr>
          <a:lstStyle/>
          <a:p>
            <a:r>
              <a:rPr lang="en-US" sz="3200" b="1">
                <a:solidFill>
                  <a:schemeClr val="bg1"/>
                </a:solidFill>
                <a:latin typeface="American Typewriter" panose="02090604020004020304" pitchFamily="18" charset="77"/>
              </a:rPr>
              <a:t>My tools:</a:t>
            </a:r>
          </a:p>
        </p:txBody>
      </p:sp>
      <p:sp>
        <p:nvSpPr>
          <p:cNvPr id="5" name="TextBox 4">
            <a:extLst>
              <a:ext uri="{FF2B5EF4-FFF2-40B4-BE49-F238E27FC236}">
                <a16:creationId xmlns:a16="http://schemas.microsoft.com/office/drawing/2014/main" id="{12862105-2EEF-0A7B-E817-E2E6B5A26FEC}"/>
              </a:ext>
            </a:extLst>
          </p:cNvPr>
          <p:cNvSpPr txBox="1"/>
          <p:nvPr/>
        </p:nvSpPr>
        <p:spPr>
          <a:xfrm>
            <a:off x="7050740" y="674399"/>
            <a:ext cx="4392707" cy="1754326"/>
          </a:xfrm>
          <a:prstGeom prst="rect">
            <a:avLst/>
          </a:prstGeom>
          <a:noFill/>
        </p:spPr>
        <p:txBody>
          <a:bodyPr wrap="square" rtlCol="0">
            <a:spAutoFit/>
          </a:bodyPr>
          <a:lstStyle/>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5">
                  <a:extLst>
                    <a:ext uri="{A12FA001-AC4F-418D-AE19-62706E023703}">
                      <ahyp:hlinkClr xmlns:ahyp="http://schemas.microsoft.com/office/drawing/2018/hyperlinkcolor" val="tx"/>
                    </a:ext>
                  </a:extLst>
                </a:hlinkClick>
              </a:rPr>
              <a:t>Claude Opus 5</a:t>
            </a:r>
            <a:r>
              <a:rPr lang="en-US">
                <a:solidFill>
                  <a:schemeClr val="bg1"/>
                </a:solidFill>
                <a:latin typeface="American Typewriter" panose="02090604020004020304" pitchFamily="18" charset="77"/>
              </a:rPr>
              <a:t> (general use + text)</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6">
                  <a:extLst>
                    <a:ext uri="{A12FA001-AC4F-418D-AE19-62706E023703}">
                      <ahyp:hlinkClr xmlns:ahyp="http://schemas.microsoft.com/office/drawing/2018/hyperlinkcolor" val="tx"/>
                    </a:ext>
                  </a:extLst>
                </a:hlinkClick>
              </a:rPr>
              <a:t>Midjourney</a:t>
            </a:r>
            <a:r>
              <a:rPr lang="en-US">
                <a:solidFill>
                  <a:schemeClr val="bg1"/>
                </a:solidFill>
                <a:latin typeface="American Typewriter" panose="02090604020004020304" pitchFamily="18" charset="77"/>
              </a:rPr>
              <a:t> (images)</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7">
                  <a:extLst>
                    <a:ext uri="{A12FA001-AC4F-418D-AE19-62706E023703}">
                      <ahyp:hlinkClr xmlns:ahyp="http://schemas.microsoft.com/office/drawing/2018/hyperlinkcolor" val="tx"/>
                    </a:ext>
                  </a:extLst>
                </a:hlinkClick>
              </a:rPr>
              <a:t>Suno 5.5</a:t>
            </a:r>
            <a:r>
              <a:rPr lang="en-US">
                <a:solidFill>
                  <a:schemeClr val="bg1"/>
                </a:solidFill>
                <a:latin typeface="American Typewriter" panose="02090604020004020304" pitchFamily="18" charset="77"/>
              </a:rPr>
              <a:t> (music)</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8">
                  <a:extLst>
                    <a:ext uri="{A12FA001-AC4F-418D-AE19-62706E023703}">
                      <ahyp:hlinkClr xmlns:ahyp="http://schemas.microsoft.com/office/drawing/2018/hyperlinkcolor" val="tx"/>
                    </a:ext>
                  </a:extLst>
                </a:hlinkClick>
              </a:rPr>
              <a:t>Seedance 2.5</a:t>
            </a:r>
            <a:r>
              <a:rPr lang="en-US">
                <a:solidFill>
                  <a:schemeClr val="bg1"/>
                </a:solidFill>
                <a:latin typeface="American Typewriter" panose="02090604020004020304" pitchFamily="18" charset="77"/>
              </a:rPr>
              <a:t> (videos)</a:t>
            </a:r>
          </a:p>
          <a:p>
            <a:pPr marL="285750" indent="-285750">
              <a:buFont typeface="Arial" panose="020B0604020202020204" pitchFamily="34" charset="0"/>
              <a:buChar char="•"/>
            </a:pPr>
            <a:r>
              <a:rPr lang="en-US">
                <a:solidFill>
                  <a:schemeClr val="bg1"/>
                </a:solidFill>
                <a:latin typeface="American Typewriter" panose="02090604020004020304" pitchFamily="18" charset="77"/>
                <a:hlinkClick r:id="rId19">
                  <a:extLst>
                    <a:ext uri="{A12FA001-AC4F-418D-AE19-62706E023703}">
                      <ahyp:hlinkClr xmlns:ahyp="http://schemas.microsoft.com/office/drawing/2018/hyperlinkcolor" val="tx"/>
                    </a:ext>
                  </a:extLst>
                </a:hlinkClick>
              </a:rPr>
              <a:t>Downr.org</a:t>
            </a:r>
            <a:r>
              <a:rPr lang="en-US">
                <a:solidFill>
                  <a:schemeClr val="bg1"/>
                </a:solidFill>
                <a:latin typeface="American Typewriter" panose="02090604020004020304" pitchFamily="18" charset="77"/>
              </a:rPr>
              <a:t> (video downloads)</a:t>
            </a: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20953655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2D62"/>
        </a:solidFill>
        <a:effectLst/>
      </p:bgPr>
    </p:bg>
    <p:spTree>
      <p:nvGrpSpPr>
        <p:cNvPr id="1" name="">
          <a:extLst>
            <a:ext uri="{FF2B5EF4-FFF2-40B4-BE49-F238E27FC236}">
              <a16:creationId xmlns:a16="http://schemas.microsoft.com/office/drawing/2014/main" id="{751E58DF-6977-2912-E847-74D7905F9DA9}"/>
            </a:ext>
          </a:extLst>
        </p:cNvPr>
        <p:cNvGrpSpPr/>
        <p:nvPr/>
      </p:nvGrpSpPr>
      <p:grpSpPr>
        <a:xfrm>
          <a:off x="0" y="0"/>
          <a:ext cx="0" cy="0"/>
          <a:chOff x="0" y="0"/>
          <a:chExt cx="0" cy="0"/>
        </a:xfrm>
      </p:grpSpPr>
    </p:spTree>
    <p:extLst>
      <p:ext uri="{BB962C8B-B14F-4D97-AF65-F5344CB8AC3E}">
        <p14:creationId xmlns:p14="http://schemas.microsoft.com/office/powerpoint/2010/main" val="1067851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2894</TotalTime>
  <Words>1572</Words>
  <Application>Microsoft Macintosh PowerPoint</Application>
  <PresentationFormat>Widescreen</PresentationFormat>
  <Paragraphs>93</Paragraphs>
  <Slides>46</Slides>
  <Notes>0</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American Typewriter</vt:lpstr>
      <vt:lpstr>Arial</vt:lpstr>
      <vt:lpstr>Aptos</vt:lpstr>
      <vt:lpstr>Calibri Light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Zorn, Christopher</dc:creator>
  <cp:lastModifiedBy>Zorn, Christopher</cp:lastModifiedBy>
  <cp:revision>86</cp:revision>
  <cp:lastPrinted>2026-09-03T11:35:25Z</cp:lastPrinted>
  <dcterms:created xsi:type="dcterms:W3CDTF">2026-09-01T13:30:35Z</dcterms:created>
  <dcterms:modified xsi:type="dcterms:W3CDTF">2026-09-04T21:24:18Z</dcterms:modified>
</cp:coreProperties>
</file>